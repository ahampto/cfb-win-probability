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57" r:id="rId8"/>
    <p:sldId id="264" r:id="rId9"/>
    <p:sldId id="263" r:id="rId10"/>
    <p:sldId id="265" r:id="rId11"/>
    <p:sldId id="267" r:id="rId12"/>
    <p:sldId id="268" r:id="rId13"/>
    <p:sldId id="269" r:id="rId14"/>
    <p:sldId id="270" r:id="rId15"/>
    <p:sldId id="271" r:id="rId16"/>
    <p:sldId id="272" r:id="rId17"/>
    <p:sldId id="273" r:id="rId18"/>
    <p:sldId id="274" r:id="rId19"/>
    <p:sldId id="275" r:id="rId20"/>
    <p:sldId id="266" r:id="rId21"/>
    <p:sldId id="277" r:id="rId22"/>
    <p:sldId id="278" r:id="rId23"/>
    <p:sldId id="276" r:id="rId24"/>
    <p:sldId id="28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52" autoAdjust="0"/>
    <p:restoredTop sz="94660"/>
  </p:normalViewPr>
  <p:slideViewPr>
    <p:cSldViewPr snapToGrid="0">
      <p:cViewPr varScale="1">
        <p:scale>
          <a:sx n="78" d="100"/>
          <a:sy n="78" d="100"/>
        </p:scale>
        <p:origin x="64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67E2-82A2-9FE2-8AFB-D0ADC073241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F13745D-2D7E-0269-D02B-5F03AF4EF6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19AF765-8774-9003-4E56-BAAAF8BC4D73}"/>
              </a:ext>
            </a:extLst>
          </p:cNvPr>
          <p:cNvSpPr>
            <a:spLocks noGrp="1"/>
          </p:cNvSpPr>
          <p:nvPr>
            <p:ph type="dt" sz="half" idx="10"/>
          </p:nvPr>
        </p:nvSpPr>
        <p:spPr/>
        <p:txBody>
          <a:bodyPr/>
          <a:lstStyle/>
          <a:p>
            <a:fld id="{C454FF24-EE13-40A1-9FE1-DDFAB3C2E028}" type="datetimeFigureOut">
              <a:rPr lang="en-US" smtClean="0"/>
              <a:t>5/3/2026</a:t>
            </a:fld>
            <a:endParaRPr lang="en-US"/>
          </a:p>
        </p:txBody>
      </p:sp>
      <p:sp>
        <p:nvSpPr>
          <p:cNvPr id="5" name="Footer Placeholder 4">
            <a:extLst>
              <a:ext uri="{FF2B5EF4-FFF2-40B4-BE49-F238E27FC236}">
                <a16:creationId xmlns:a16="http://schemas.microsoft.com/office/drawing/2014/main" id="{8BE911A0-7470-A78B-6F1F-5FCACD1624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9D6ABE-C4CC-5495-A63C-4B816706E08C}"/>
              </a:ext>
            </a:extLst>
          </p:cNvPr>
          <p:cNvSpPr>
            <a:spLocks noGrp="1"/>
          </p:cNvSpPr>
          <p:nvPr>
            <p:ph type="sldNum" sz="quarter" idx="12"/>
          </p:nvPr>
        </p:nvSpPr>
        <p:spPr/>
        <p:txBody>
          <a:bodyPr/>
          <a:lstStyle/>
          <a:p>
            <a:fld id="{9C0381F3-485E-402F-9B18-862A5400E586}" type="slidenum">
              <a:rPr lang="en-US" smtClean="0"/>
              <a:t>‹#›</a:t>
            </a:fld>
            <a:endParaRPr lang="en-US"/>
          </a:p>
        </p:txBody>
      </p:sp>
    </p:spTree>
    <p:extLst>
      <p:ext uri="{BB962C8B-B14F-4D97-AF65-F5344CB8AC3E}">
        <p14:creationId xmlns:p14="http://schemas.microsoft.com/office/powerpoint/2010/main" val="1317580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2C16C-7A09-02D5-BE5A-09836B6D88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42BEB7-01B6-09AF-7143-8E8FFAC7F8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BA71F2-4929-E9E3-4107-45ACB87B2C1B}"/>
              </a:ext>
            </a:extLst>
          </p:cNvPr>
          <p:cNvSpPr>
            <a:spLocks noGrp="1"/>
          </p:cNvSpPr>
          <p:nvPr>
            <p:ph type="dt" sz="half" idx="10"/>
          </p:nvPr>
        </p:nvSpPr>
        <p:spPr/>
        <p:txBody>
          <a:bodyPr/>
          <a:lstStyle/>
          <a:p>
            <a:fld id="{C454FF24-EE13-40A1-9FE1-DDFAB3C2E028}" type="datetimeFigureOut">
              <a:rPr lang="en-US" smtClean="0"/>
              <a:t>5/3/2026</a:t>
            </a:fld>
            <a:endParaRPr lang="en-US"/>
          </a:p>
        </p:txBody>
      </p:sp>
      <p:sp>
        <p:nvSpPr>
          <p:cNvPr id="5" name="Footer Placeholder 4">
            <a:extLst>
              <a:ext uri="{FF2B5EF4-FFF2-40B4-BE49-F238E27FC236}">
                <a16:creationId xmlns:a16="http://schemas.microsoft.com/office/drawing/2014/main" id="{8991ECF2-F2A8-E80E-70C2-30B3C8DCF0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F7E315-322D-BE29-27A4-3889E2215AB0}"/>
              </a:ext>
            </a:extLst>
          </p:cNvPr>
          <p:cNvSpPr>
            <a:spLocks noGrp="1"/>
          </p:cNvSpPr>
          <p:nvPr>
            <p:ph type="sldNum" sz="quarter" idx="12"/>
          </p:nvPr>
        </p:nvSpPr>
        <p:spPr/>
        <p:txBody>
          <a:bodyPr/>
          <a:lstStyle/>
          <a:p>
            <a:fld id="{9C0381F3-485E-402F-9B18-862A5400E586}" type="slidenum">
              <a:rPr lang="en-US" smtClean="0"/>
              <a:t>‹#›</a:t>
            </a:fld>
            <a:endParaRPr lang="en-US"/>
          </a:p>
        </p:txBody>
      </p:sp>
    </p:spTree>
    <p:extLst>
      <p:ext uri="{BB962C8B-B14F-4D97-AF65-F5344CB8AC3E}">
        <p14:creationId xmlns:p14="http://schemas.microsoft.com/office/powerpoint/2010/main" val="1142277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41365-912D-852F-71D5-E91DD02450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870E408-3C43-84E4-11D6-7EE3EFF28A1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8D573E-44A8-4032-F55D-E4D90079E59C}"/>
              </a:ext>
            </a:extLst>
          </p:cNvPr>
          <p:cNvSpPr>
            <a:spLocks noGrp="1"/>
          </p:cNvSpPr>
          <p:nvPr>
            <p:ph type="dt" sz="half" idx="10"/>
          </p:nvPr>
        </p:nvSpPr>
        <p:spPr/>
        <p:txBody>
          <a:bodyPr/>
          <a:lstStyle/>
          <a:p>
            <a:fld id="{C454FF24-EE13-40A1-9FE1-DDFAB3C2E028}" type="datetimeFigureOut">
              <a:rPr lang="en-US" smtClean="0"/>
              <a:t>5/3/2026</a:t>
            </a:fld>
            <a:endParaRPr lang="en-US"/>
          </a:p>
        </p:txBody>
      </p:sp>
      <p:sp>
        <p:nvSpPr>
          <p:cNvPr id="5" name="Footer Placeholder 4">
            <a:extLst>
              <a:ext uri="{FF2B5EF4-FFF2-40B4-BE49-F238E27FC236}">
                <a16:creationId xmlns:a16="http://schemas.microsoft.com/office/drawing/2014/main" id="{90673A22-9825-ADBD-B722-527681ED51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AD95BB-D5C5-61FD-CCD5-950B6937B3D9}"/>
              </a:ext>
            </a:extLst>
          </p:cNvPr>
          <p:cNvSpPr>
            <a:spLocks noGrp="1"/>
          </p:cNvSpPr>
          <p:nvPr>
            <p:ph type="sldNum" sz="quarter" idx="12"/>
          </p:nvPr>
        </p:nvSpPr>
        <p:spPr/>
        <p:txBody>
          <a:bodyPr/>
          <a:lstStyle/>
          <a:p>
            <a:fld id="{9C0381F3-485E-402F-9B18-862A5400E586}" type="slidenum">
              <a:rPr lang="en-US" smtClean="0"/>
              <a:t>‹#›</a:t>
            </a:fld>
            <a:endParaRPr lang="en-US"/>
          </a:p>
        </p:txBody>
      </p:sp>
    </p:spTree>
    <p:extLst>
      <p:ext uri="{BB962C8B-B14F-4D97-AF65-F5344CB8AC3E}">
        <p14:creationId xmlns:p14="http://schemas.microsoft.com/office/powerpoint/2010/main" val="11663630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E95C8-3B75-D59D-B3CF-D58466017D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A25809-D13C-3004-DCAA-AD0D461D5A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36F3C2A-B679-FC34-F9AE-40044E6542F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F4B7E82-C214-1F3B-2F75-14FAA25470E2}"/>
              </a:ext>
            </a:extLst>
          </p:cNvPr>
          <p:cNvSpPr>
            <a:spLocks noGrp="1"/>
          </p:cNvSpPr>
          <p:nvPr>
            <p:ph type="dt" sz="half" idx="10"/>
          </p:nvPr>
        </p:nvSpPr>
        <p:spPr/>
        <p:txBody>
          <a:bodyPr/>
          <a:lstStyle/>
          <a:p>
            <a:fld id="{C454FF24-EE13-40A1-9FE1-DDFAB3C2E028}" type="datetimeFigureOut">
              <a:rPr lang="en-US" smtClean="0"/>
              <a:t>5/3/2026</a:t>
            </a:fld>
            <a:endParaRPr lang="en-US"/>
          </a:p>
        </p:txBody>
      </p:sp>
      <p:sp>
        <p:nvSpPr>
          <p:cNvPr id="6" name="Footer Placeholder 5">
            <a:extLst>
              <a:ext uri="{FF2B5EF4-FFF2-40B4-BE49-F238E27FC236}">
                <a16:creationId xmlns:a16="http://schemas.microsoft.com/office/drawing/2014/main" id="{EEBD606E-3A8C-64A0-7DA9-CDF597D410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4298B9-D6F0-7173-3767-41FD1950C341}"/>
              </a:ext>
            </a:extLst>
          </p:cNvPr>
          <p:cNvSpPr>
            <a:spLocks noGrp="1"/>
          </p:cNvSpPr>
          <p:nvPr>
            <p:ph type="sldNum" sz="quarter" idx="12"/>
          </p:nvPr>
        </p:nvSpPr>
        <p:spPr/>
        <p:txBody>
          <a:bodyPr/>
          <a:lstStyle/>
          <a:p>
            <a:fld id="{9C0381F3-485E-402F-9B18-862A5400E586}" type="slidenum">
              <a:rPr lang="en-US" smtClean="0"/>
              <a:t>‹#›</a:t>
            </a:fld>
            <a:endParaRPr lang="en-US"/>
          </a:p>
        </p:txBody>
      </p:sp>
    </p:spTree>
    <p:extLst>
      <p:ext uri="{BB962C8B-B14F-4D97-AF65-F5344CB8AC3E}">
        <p14:creationId xmlns:p14="http://schemas.microsoft.com/office/powerpoint/2010/main" val="3886846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75CA9-20AC-B48B-377A-9ECFFBFA429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ECEC12F-D38F-1DDF-1418-9E15C3FE40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75BE30-6ECC-7D8B-A143-5B6A3EBB80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30802B4-3913-B254-028B-666F64BCB9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7F2C54-8330-9635-F9B4-9121506BFD3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5A00241-8533-5DDD-072B-3D0189F9778F}"/>
              </a:ext>
            </a:extLst>
          </p:cNvPr>
          <p:cNvSpPr>
            <a:spLocks noGrp="1"/>
          </p:cNvSpPr>
          <p:nvPr>
            <p:ph type="dt" sz="half" idx="10"/>
          </p:nvPr>
        </p:nvSpPr>
        <p:spPr/>
        <p:txBody>
          <a:bodyPr/>
          <a:lstStyle/>
          <a:p>
            <a:fld id="{C454FF24-EE13-40A1-9FE1-DDFAB3C2E028}" type="datetimeFigureOut">
              <a:rPr lang="en-US" smtClean="0"/>
              <a:t>5/3/2026</a:t>
            </a:fld>
            <a:endParaRPr lang="en-US"/>
          </a:p>
        </p:txBody>
      </p:sp>
      <p:sp>
        <p:nvSpPr>
          <p:cNvPr id="8" name="Footer Placeholder 7">
            <a:extLst>
              <a:ext uri="{FF2B5EF4-FFF2-40B4-BE49-F238E27FC236}">
                <a16:creationId xmlns:a16="http://schemas.microsoft.com/office/drawing/2014/main" id="{4F125ABF-827C-A7BF-6E2D-DB9AB5CDAF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C107143-6672-933D-1D01-472E097573D5}"/>
              </a:ext>
            </a:extLst>
          </p:cNvPr>
          <p:cNvSpPr>
            <a:spLocks noGrp="1"/>
          </p:cNvSpPr>
          <p:nvPr>
            <p:ph type="sldNum" sz="quarter" idx="12"/>
          </p:nvPr>
        </p:nvSpPr>
        <p:spPr/>
        <p:txBody>
          <a:bodyPr/>
          <a:lstStyle/>
          <a:p>
            <a:fld id="{9C0381F3-485E-402F-9B18-862A5400E586}" type="slidenum">
              <a:rPr lang="en-US" smtClean="0"/>
              <a:t>‹#›</a:t>
            </a:fld>
            <a:endParaRPr lang="en-US"/>
          </a:p>
        </p:txBody>
      </p:sp>
    </p:spTree>
    <p:extLst>
      <p:ext uri="{BB962C8B-B14F-4D97-AF65-F5344CB8AC3E}">
        <p14:creationId xmlns:p14="http://schemas.microsoft.com/office/powerpoint/2010/main" val="919826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E5E80-1EF5-45D2-5365-FD7BDEDD118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AC37BC6-1FB5-5478-C5C8-419B73D828FC}"/>
              </a:ext>
            </a:extLst>
          </p:cNvPr>
          <p:cNvSpPr>
            <a:spLocks noGrp="1"/>
          </p:cNvSpPr>
          <p:nvPr>
            <p:ph type="dt" sz="half" idx="10"/>
          </p:nvPr>
        </p:nvSpPr>
        <p:spPr/>
        <p:txBody>
          <a:bodyPr/>
          <a:lstStyle/>
          <a:p>
            <a:fld id="{C454FF24-EE13-40A1-9FE1-DDFAB3C2E028}" type="datetimeFigureOut">
              <a:rPr lang="en-US" smtClean="0"/>
              <a:t>5/3/2026</a:t>
            </a:fld>
            <a:endParaRPr lang="en-US"/>
          </a:p>
        </p:txBody>
      </p:sp>
      <p:sp>
        <p:nvSpPr>
          <p:cNvPr id="4" name="Footer Placeholder 3">
            <a:extLst>
              <a:ext uri="{FF2B5EF4-FFF2-40B4-BE49-F238E27FC236}">
                <a16:creationId xmlns:a16="http://schemas.microsoft.com/office/drawing/2014/main" id="{6AEAB787-D78D-65C2-5309-DB7AF1DC6F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DE8539C-A119-264C-B8D2-5FDD48F88BEA}"/>
              </a:ext>
            </a:extLst>
          </p:cNvPr>
          <p:cNvSpPr>
            <a:spLocks noGrp="1"/>
          </p:cNvSpPr>
          <p:nvPr>
            <p:ph type="sldNum" sz="quarter" idx="12"/>
          </p:nvPr>
        </p:nvSpPr>
        <p:spPr/>
        <p:txBody>
          <a:bodyPr/>
          <a:lstStyle/>
          <a:p>
            <a:fld id="{9C0381F3-485E-402F-9B18-862A5400E586}" type="slidenum">
              <a:rPr lang="en-US" smtClean="0"/>
              <a:t>‹#›</a:t>
            </a:fld>
            <a:endParaRPr lang="en-US"/>
          </a:p>
        </p:txBody>
      </p:sp>
    </p:spTree>
    <p:extLst>
      <p:ext uri="{BB962C8B-B14F-4D97-AF65-F5344CB8AC3E}">
        <p14:creationId xmlns:p14="http://schemas.microsoft.com/office/powerpoint/2010/main" val="1586139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4402F0-C99F-7F47-F6D4-64214E409E38}"/>
              </a:ext>
            </a:extLst>
          </p:cNvPr>
          <p:cNvSpPr>
            <a:spLocks noGrp="1"/>
          </p:cNvSpPr>
          <p:nvPr>
            <p:ph type="dt" sz="half" idx="10"/>
          </p:nvPr>
        </p:nvSpPr>
        <p:spPr/>
        <p:txBody>
          <a:bodyPr/>
          <a:lstStyle/>
          <a:p>
            <a:fld id="{C454FF24-EE13-40A1-9FE1-DDFAB3C2E028}" type="datetimeFigureOut">
              <a:rPr lang="en-US" smtClean="0"/>
              <a:t>5/3/2026</a:t>
            </a:fld>
            <a:endParaRPr lang="en-US"/>
          </a:p>
        </p:txBody>
      </p:sp>
      <p:sp>
        <p:nvSpPr>
          <p:cNvPr id="3" name="Footer Placeholder 2">
            <a:extLst>
              <a:ext uri="{FF2B5EF4-FFF2-40B4-BE49-F238E27FC236}">
                <a16:creationId xmlns:a16="http://schemas.microsoft.com/office/drawing/2014/main" id="{78760EB5-2534-31B9-CF5E-B79F3F41812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F43BF42-8812-A293-DA29-A867A803B634}"/>
              </a:ext>
            </a:extLst>
          </p:cNvPr>
          <p:cNvSpPr>
            <a:spLocks noGrp="1"/>
          </p:cNvSpPr>
          <p:nvPr>
            <p:ph type="sldNum" sz="quarter" idx="12"/>
          </p:nvPr>
        </p:nvSpPr>
        <p:spPr/>
        <p:txBody>
          <a:bodyPr/>
          <a:lstStyle/>
          <a:p>
            <a:fld id="{9C0381F3-485E-402F-9B18-862A5400E586}" type="slidenum">
              <a:rPr lang="en-US" smtClean="0"/>
              <a:t>‹#›</a:t>
            </a:fld>
            <a:endParaRPr lang="en-US"/>
          </a:p>
        </p:txBody>
      </p:sp>
    </p:spTree>
    <p:extLst>
      <p:ext uri="{BB962C8B-B14F-4D97-AF65-F5344CB8AC3E}">
        <p14:creationId xmlns:p14="http://schemas.microsoft.com/office/powerpoint/2010/main" val="3178109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B1E6C-6D59-1681-47F1-17EA93C387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6890C2D-70B5-E3AA-5BAA-E2021360D0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A6B0EDE-9900-E2A4-A533-CA068A1AD8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50D6DA-9C27-8B0A-1BE3-C1A46020F28D}"/>
              </a:ext>
            </a:extLst>
          </p:cNvPr>
          <p:cNvSpPr>
            <a:spLocks noGrp="1"/>
          </p:cNvSpPr>
          <p:nvPr>
            <p:ph type="dt" sz="half" idx="10"/>
          </p:nvPr>
        </p:nvSpPr>
        <p:spPr/>
        <p:txBody>
          <a:bodyPr/>
          <a:lstStyle/>
          <a:p>
            <a:fld id="{C454FF24-EE13-40A1-9FE1-DDFAB3C2E028}" type="datetimeFigureOut">
              <a:rPr lang="en-US" smtClean="0"/>
              <a:t>5/3/2026</a:t>
            </a:fld>
            <a:endParaRPr lang="en-US"/>
          </a:p>
        </p:txBody>
      </p:sp>
      <p:sp>
        <p:nvSpPr>
          <p:cNvPr id="6" name="Footer Placeholder 5">
            <a:extLst>
              <a:ext uri="{FF2B5EF4-FFF2-40B4-BE49-F238E27FC236}">
                <a16:creationId xmlns:a16="http://schemas.microsoft.com/office/drawing/2014/main" id="{18F5D845-959F-EEA0-70A1-453A5D2410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0CC2C2-BD40-4DF7-5FFB-DBC05778AEAA}"/>
              </a:ext>
            </a:extLst>
          </p:cNvPr>
          <p:cNvSpPr>
            <a:spLocks noGrp="1"/>
          </p:cNvSpPr>
          <p:nvPr>
            <p:ph type="sldNum" sz="quarter" idx="12"/>
          </p:nvPr>
        </p:nvSpPr>
        <p:spPr/>
        <p:txBody>
          <a:bodyPr/>
          <a:lstStyle/>
          <a:p>
            <a:fld id="{9C0381F3-485E-402F-9B18-862A5400E586}" type="slidenum">
              <a:rPr lang="en-US" smtClean="0"/>
              <a:t>‹#›</a:t>
            </a:fld>
            <a:endParaRPr lang="en-US"/>
          </a:p>
        </p:txBody>
      </p:sp>
    </p:spTree>
    <p:extLst>
      <p:ext uri="{BB962C8B-B14F-4D97-AF65-F5344CB8AC3E}">
        <p14:creationId xmlns:p14="http://schemas.microsoft.com/office/powerpoint/2010/main" val="373774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5F510-E68E-2385-251E-DE1BD932FD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BC7C909-6DCB-5202-8E44-3F69E7D9BB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F48C4F9-653A-4B46-65DE-B6BED0DE4E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58B43A-DBC0-E7A2-2237-63319C3C1F81}"/>
              </a:ext>
            </a:extLst>
          </p:cNvPr>
          <p:cNvSpPr>
            <a:spLocks noGrp="1"/>
          </p:cNvSpPr>
          <p:nvPr>
            <p:ph type="dt" sz="half" idx="10"/>
          </p:nvPr>
        </p:nvSpPr>
        <p:spPr/>
        <p:txBody>
          <a:bodyPr/>
          <a:lstStyle/>
          <a:p>
            <a:fld id="{C454FF24-EE13-40A1-9FE1-DDFAB3C2E028}" type="datetimeFigureOut">
              <a:rPr lang="en-US" smtClean="0"/>
              <a:t>5/3/2026</a:t>
            </a:fld>
            <a:endParaRPr lang="en-US"/>
          </a:p>
        </p:txBody>
      </p:sp>
      <p:sp>
        <p:nvSpPr>
          <p:cNvPr id="6" name="Footer Placeholder 5">
            <a:extLst>
              <a:ext uri="{FF2B5EF4-FFF2-40B4-BE49-F238E27FC236}">
                <a16:creationId xmlns:a16="http://schemas.microsoft.com/office/drawing/2014/main" id="{3B3F7711-790D-A7E1-4420-C04A6360C1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CE3412-FD9A-D8BE-A1AD-28E117CD7F5A}"/>
              </a:ext>
            </a:extLst>
          </p:cNvPr>
          <p:cNvSpPr>
            <a:spLocks noGrp="1"/>
          </p:cNvSpPr>
          <p:nvPr>
            <p:ph type="sldNum" sz="quarter" idx="12"/>
          </p:nvPr>
        </p:nvSpPr>
        <p:spPr/>
        <p:txBody>
          <a:bodyPr/>
          <a:lstStyle/>
          <a:p>
            <a:fld id="{9C0381F3-485E-402F-9B18-862A5400E586}" type="slidenum">
              <a:rPr lang="en-US" smtClean="0"/>
              <a:t>‹#›</a:t>
            </a:fld>
            <a:endParaRPr lang="en-US"/>
          </a:p>
        </p:txBody>
      </p:sp>
    </p:spTree>
    <p:extLst>
      <p:ext uri="{BB962C8B-B14F-4D97-AF65-F5344CB8AC3E}">
        <p14:creationId xmlns:p14="http://schemas.microsoft.com/office/powerpoint/2010/main" val="34566401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CACAF-4CBA-1C1C-67F2-4E11DE201CC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A5129E1-0C84-4892-450D-26DB65547D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EDFC79-B8B6-6070-EFA6-DCC52A3447FA}"/>
              </a:ext>
            </a:extLst>
          </p:cNvPr>
          <p:cNvSpPr>
            <a:spLocks noGrp="1"/>
          </p:cNvSpPr>
          <p:nvPr>
            <p:ph type="dt" sz="half" idx="10"/>
          </p:nvPr>
        </p:nvSpPr>
        <p:spPr/>
        <p:txBody>
          <a:bodyPr/>
          <a:lstStyle/>
          <a:p>
            <a:fld id="{C454FF24-EE13-40A1-9FE1-DDFAB3C2E028}" type="datetimeFigureOut">
              <a:rPr lang="en-US" smtClean="0"/>
              <a:t>5/3/2026</a:t>
            </a:fld>
            <a:endParaRPr lang="en-US"/>
          </a:p>
        </p:txBody>
      </p:sp>
      <p:sp>
        <p:nvSpPr>
          <p:cNvPr id="5" name="Footer Placeholder 4">
            <a:extLst>
              <a:ext uri="{FF2B5EF4-FFF2-40B4-BE49-F238E27FC236}">
                <a16:creationId xmlns:a16="http://schemas.microsoft.com/office/drawing/2014/main" id="{91A72169-C754-32D5-D295-E8CF0809AB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F35D7D-7089-5FE7-443B-53E3033BF552}"/>
              </a:ext>
            </a:extLst>
          </p:cNvPr>
          <p:cNvSpPr>
            <a:spLocks noGrp="1"/>
          </p:cNvSpPr>
          <p:nvPr>
            <p:ph type="sldNum" sz="quarter" idx="12"/>
          </p:nvPr>
        </p:nvSpPr>
        <p:spPr/>
        <p:txBody>
          <a:bodyPr/>
          <a:lstStyle/>
          <a:p>
            <a:fld id="{9C0381F3-485E-402F-9B18-862A5400E586}" type="slidenum">
              <a:rPr lang="en-US" smtClean="0"/>
              <a:t>‹#›</a:t>
            </a:fld>
            <a:endParaRPr lang="en-US"/>
          </a:p>
        </p:txBody>
      </p:sp>
    </p:spTree>
    <p:extLst>
      <p:ext uri="{BB962C8B-B14F-4D97-AF65-F5344CB8AC3E}">
        <p14:creationId xmlns:p14="http://schemas.microsoft.com/office/powerpoint/2010/main" val="27187170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5EAFB7-2329-66B7-1AEF-CDBEC44FAF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4DF2F36-60AD-3390-CBED-8F2E48AD37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F2FF32-ECEB-1479-B408-31AFE21DC0E1}"/>
              </a:ext>
            </a:extLst>
          </p:cNvPr>
          <p:cNvSpPr>
            <a:spLocks noGrp="1"/>
          </p:cNvSpPr>
          <p:nvPr>
            <p:ph type="dt" sz="half" idx="10"/>
          </p:nvPr>
        </p:nvSpPr>
        <p:spPr/>
        <p:txBody>
          <a:bodyPr/>
          <a:lstStyle/>
          <a:p>
            <a:fld id="{C454FF24-EE13-40A1-9FE1-DDFAB3C2E028}" type="datetimeFigureOut">
              <a:rPr lang="en-US" smtClean="0"/>
              <a:t>5/3/2026</a:t>
            </a:fld>
            <a:endParaRPr lang="en-US"/>
          </a:p>
        </p:txBody>
      </p:sp>
      <p:sp>
        <p:nvSpPr>
          <p:cNvPr id="5" name="Footer Placeholder 4">
            <a:extLst>
              <a:ext uri="{FF2B5EF4-FFF2-40B4-BE49-F238E27FC236}">
                <a16:creationId xmlns:a16="http://schemas.microsoft.com/office/drawing/2014/main" id="{E00012B7-0347-5391-36F6-78EB3695C2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7F7061-7D99-1C97-4FF7-9831A0F3EFA5}"/>
              </a:ext>
            </a:extLst>
          </p:cNvPr>
          <p:cNvSpPr>
            <a:spLocks noGrp="1"/>
          </p:cNvSpPr>
          <p:nvPr>
            <p:ph type="sldNum" sz="quarter" idx="12"/>
          </p:nvPr>
        </p:nvSpPr>
        <p:spPr/>
        <p:txBody>
          <a:bodyPr/>
          <a:lstStyle/>
          <a:p>
            <a:fld id="{9C0381F3-485E-402F-9B18-862A5400E586}" type="slidenum">
              <a:rPr lang="en-US" smtClean="0"/>
              <a:t>‹#›</a:t>
            </a:fld>
            <a:endParaRPr lang="en-US"/>
          </a:p>
        </p:txBody>
      </p:sp>
    </p:spTree>
    <p:extLst>
      <p:ext uri="{BB962C8B-B14F-4D97-AF65-F5344CB8AC3E}">
        <p14:creationId xmlns:p14="http://schemas.microsoft.com/office/powerpoint/2010/main" val="7600816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D2409D-1FB7-9D85-D15A-8FA052F962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A45AC3E-F2C1-F496-35C2-E79FAF6180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D3530D-0969-66AE-4C9E-210BFEE491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54FF24-EE13-40A1-9FE1-DDFAB3C2E028}" type="datetimeFigureOut">
              <a:rPr lang="en-US" smtClean="0"/>
              <a:t>5/3/2026</a:t>
            </a:fld>
            <a:endParaRPr lang="en-US"/>
          </a:p>
        </p:txBody>
      </p:sp>
      <p:sp>
        <p:nvSpPr>
          <p:cNvPr id="5" name="Footer Placeholder 4">
            <a:extLst>
              <a:ext uri="{FF2B5EF4-FFF2-40B4-BE49-F238E27FC236}">
                <a16:creationId xmlns:a16="http://schemas.microsoft.com/office/drawing/2014/main" id="{72819CE7-7D9B-F304-3584-B7059035FA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C4245BF-4C53-C751-C559-025F82AF66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C0381F3-485E-402F-9B18-862A5400E586}" type="slidenum">
              <a:rPr lang="en-US" smtClean="0"/>
              <a:t>‹#›</a:t>
            </a:fld>
            <a:endParaRPr lang="en-US"/>
          </a:p>
        </p:txBody>
      </p:sp>
    </p:spTree>
    <p:extLst>
      <p:ext uri="{BB962C8B-B14F-4D97-AF65-F5344CB8AC3E}">
        <p14:creationId xmlns:p14="http://schemas.microsoft.com/office/powerpoint/2010/main" val="23199952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BDDD6-8687-CE75-EE73-1F5B111D63C3}"/>
              </a:ext>
            </a:extLst>
          </p:cNvPr>
          <p:cNvSpPr>
            <a:spLocks noGrp="1"/>
          </p:cNvSpPr>
          <p:nvPr>
            <p:ph type="ctrTitle"/>
          </p:nvPr>
        </p:nvSpPr>
        <p:spPr/>
        <p:txBody>
          <a:bodyPr/>
          <a:lstStyle/>
          <a:p>
            <a:r>
              <a:rPr lang="en-US" dirty="0"/>
              <a:t>Predicting Win Probability</a:t>
            </a:r>
          </a:p>
        </p:txBody>
      </p:sp>
      <p:sp>
        <p:nvSpPr>
          <p:cNvPr id="3" name="Subtitle 2">
            <a:extLst>
              <a:ext uri="{FF2B5EF4-FFF2-40B4-BE49-F238E27FC236}">
                <a16:creationId xmlns:a16="http://schemas.microsoft.com/office/drawing/2014/main" id="{0CC87AA2-9137-39C0-BEC8-547DF5AD85C2}"/>
              </a:ext>
            </a:extLst>
          </p:cNvPr>
          <p:cNvSpPr>
            <a:spLocks noGrp="1"/>
          </p:cNvSpPr>
          <p:nvPr>
            <p:ph type="subTitle" idx="1"/>
          </p:nvPr>
        </p:nvSpPr>
        <p:spPr/>
        <p:txBody>
          <a:bodyPr/>
          <a:lstStyle/>
          <a:p>
            <a:r>
              <a:rPr lang="en-US"/>
              <a:t>Alvin Hampton</a:t>
            </a:r>
            <a:endParaRPr lang="en-US" dirty="0"/>
          </a:p>
        </p:txBody>
      </p:sp>
    </p:spTree>
    <p:extLst>
      <p:ext uri="{BB962C8B-B14F-4D97-AF65-F5344CB8AC3E}">
        <p14:creationId xmlns:p14="http://schemas.microsoft.com/office/powerpoint/2010/main" val="6725543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19DDD-ED3D-52BB-A81E-37E8346D60DF}"/>
              </a:ext>
            </a:extLst>
          </p:cNvPr>
          <p:cNvSpPr>
            <a:spLocks noGrp="1"/>
          </p:cNvSpPr>
          <p:nvPr>
            <p:ph type="title"/>
          </p:nvPr>
        </p:nvSpPr>
        <p:spPr/>
        <p:txBody>
          <a:bodyPr/>
          <a:lstStyle/>
          <a:p>
            <a:r>
              <a:rPr lang="en-US" dirty="0"/>
              <a:t>The Goal</a:t>
            </a:r>
          </a:p>
        </p:txBody>
      </p:sp>
      <p:sp>
        <p:nvSpPr>
          <p:cNvPr id="3" name="Content Placeholder 2">
            <a:extLst>
              <a:ext uri="{FF2B5EF4-FFF2-40B4-BE49-F238E27FC236}">
                <a16:creationId xmlns:a16="http://schemas.microsoft.com/office/drawing/2014/main" id="{3C821F7A-646C-F7F9-47D7-7E5C379C7FA0}"/>
              </a:ext>
            </a:extLst>
          </p:cNvPr>
          <p:cNvSpPr>
            <a:spLocks noGrp="1"/>
          </p:cNvSpPr>
          <p:nvPr>
            <p:ph idx="1"/>
          </p:nvPr>
        </p:nvSpPr>
        <p:spPr/>
        <p:txBody>
          <a:bodyPr/>
          <a:lstStyle/>
          <a:p>
            <a:r>
              <a:rPr lang="en-US" dirty="0"/>
              <a:t>Our goal is to estimate the probability that a team will win at any point in a game, based on the current game state such as score, time remaining, and field position</a:t>
            </a:r>
          </a:p>
          <a:p>
            <a:r>
              <a:rPr lang="en-US" dirty="0"/>
              <a:t>Use play-by-play game state data to produce an accurate win probability prediction</a:t>
            </a:r>
          </a:p>
          <a:p>
            <a:r>
              <a:rPr lang="en-US" dirty="0"/>
              <a:t>Compare machine learning models for probabilistic prediction</a:t>
            </a:r>
          </a:p>
          <a:p>
            <a:r>
              <a:rPr lang="en-US" dirty="0"/>
              <a:t>Since we are predicting probabilities, not just outcomes, we need evaluation metrics that measure both classification performance and probability quality</a:t>
            </a:r>
          </a:p>
        </p:txBody>
      </p:sp>
    </p:spTree>
    <p:extLst>
      <p:ext uri="{BB962C8B-B14F-4D97-AF65-F5344CB8AC3E}">
        <p14:creationId xmlns:p14="http://schemas.microsoft.com/office/powerpoint/2010/main" val="3980859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60A18-33BD-7BC0-7059-6B6C2A2618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499B48-E229-8FC1-7BBD-90B60AFAD735}"/>
              </a:ext>
            </a:extLst>
          </p:cNvPr>
          <p:cNvSpPr>
            <a:spLocks noGrp="1"/>
          </p:cNvSpPr>
          <p:nvPr>
            <p:ph type="title"/>
          </p:nvPr>
        </p:nvSpPr>
        <p:spPr/>
        <p:txBody>
          <a:bodyPr/>
          <a:lstStyle/>
          <a:p>
            <a:r>
              <a:rPr lang="en-US" dirty="0"/>
              <a:t>The Metrics</a:t>
            </a:r>
          </a:p>
        </p:txBody>
      </p:sp>
      <p:sp>
        <p:nvSpPr>
          <p:cNvPr id="3" name="Content Placeholder 2">
            <a:extLst>
              <a:ext uri="{FF2B5EF4-FFF2-40B4-BE49-F238E27FC236}">
                <a16:creationId xmlns:a16="http://schemas.microsoft.com/office/drawing/2014/main" id="{C3448FF7-595A-A709-AF2C-365E44ACDDC5}"/>
              </a:ext>
            </a:extLst>
          </p:cNvPr>
          <p:cNvSpPr>
            <a:spLocks noGrp="1"/>
          </p:cNvSpPr>
          <p:nvPr>
            <p:ph idx="1"/>
          </p:nvPr>
        </p:nvSpPr>
        <p:spPr/>
        <p:txBody>
          <a:bodyPr>
            <a:normAutofit/>
          </a:bodyPr>
          <a:lstStyle/>
          <a:p>
            <a:r>
              <a:rPr lang="en-US" dirty="0"/>
              <a:t>Accuracy : Above 80% is considered strong</a:t>
            </a:r>
          </a:p>
          <a:p>
            <a:r>
              <a:rPr lang="en-US" dirty="0"/>
              <a:t>ROC-AUC :  (.5 = baseline)  Above .85 is considered strong</a:t>
            </a:r>
          </a:p>
          <a:p>
            <a:r>
              <a:rPr lang="en-US" dirty="0"/>
              <a:t>Brier Score : (.25  = </a:t>
            </a:r>
            <a:r>
              <a:rPr lang="en-US" dirty="0" err="1"/>
              <a:t>basline</a:t>
            </a:r>
            <a:r>
              <a:rPr lang="en-US" dirty="0"/>
              <a:t>)  &lt; .13 is strong</a:t>
            </a:r>
          </a:p>
          <a:p>
            <a:r>
              <a:rPr lang="en-US" dirty="0"/>
              <a:t>Log Loss : (~.69 = baseline)  &lt; .4 is considered strong</a:t>
            </a:r>
          </a:p>
          <a:p>
            <a:r>
              <a:rPr lang="en-US" dirty="0"/>
              <a:t>Because we are predicting win probabilities, no single metric is sufficient. We use multiple metrics to evaluate both classification performance and the quality of probability estimates. A strong model should perform well across all metrics, not just one and our goal is to produce a model that does</a:t>
            </a:r>
          </a:p>
        </p:txBody>
      </p:sp>
    </p:spTree>
    <p:extLst>
      <p:ext uri="{BB962C8B-B14F-4D97-AF65-F5344CB8AC3E}">
        <p14:creationId xmlns:p14="http://schemas.microsoft.com/office/powerpoint/2010/main" val="918860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5F110-9CA5-9C17-E9E4-2A50562478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29F5BD-45B1-F5D6-229D-4C9CB53B8E83}"/>
              </a:ext>
            </a:extLst>
          </p:cNvPr>
          <p:cNvSpPr>
            <a:spLocks noGrp="1"/>
          </p:cNvSpPr>
          <p:nvPr>
            <p:ph type="title"/>
          </p:nvPr>
        </p:nvSpPr>
        <p:spPr/>
        <p:txBody>
          <a:bodyPr/>
          <a:lstStyle/>
          <a:p>
            <a:r>
              <a:rPr lang="en-US" dirty="0"/>
              <a:t>The Metrics (cont.)</a:t>
            </a:r>
          </a:p>
        </p:txBody>
      </p:sp>
      <p:sp>
        <p:nvSpPr>
          <p:cNvPr id="3" name="Content Placeholder 2">
            <a:extLst>
              <a:ext uri="{FF2B5EF4-FFF2-40B4-BE49-F238E27FC236}">
                <a16:creationId xmlns:a16="http://schemas.microsoft.com/office/drawing/2014/main" id="{2FC2E605-EFA7-FB16-BC10-343B954F458D}"/>
              </a:ext>
            </a:extLst>
          </p:cNvPr>
          <p:cNvSpPr>
            <a:spLocks noGrp="1"/>
          </p:cNvSpPr>
          <p:nvPr>
            <p:ph idx="1"/>
          </p:nvPr>
        </p:nvSpPr>
        <p:spPr/>
        <p:txBody>
          <a:bodyPr>
            <a:normAutofit fontScale="85000" lnSpcReduction="20000"/>
          </a:bodyPr>
          <a:lstStyle/>
          <a:p>
            <a:r>
              <a:rPr lang="en-US" b="1" dirty="0"/>
              <a:t>Accuracy: </a:t>
            </a:r>
          </a:p>
          <a:p>
            <a:r>
              <a:rPr lang="en-US" dirty="0"/>
              <a:t> measures how often the model correctly predicts whether a team will win or lose.</a:t>
            </a:r>
          </a:p>
          <a:p>
            <a:r>
              <a:rPr lang="en-US" dirty="0"/>
              <a:t>gives us a simple baseline measure of correctness, but it does not evaluate the quality of probability estimates</a:t>
            </a:r>
            <a:endParaRPr lang="en-US" b="1" dirty="0"/>
          </a:p>
          <a:p>
            <a:r>
              <a:rPr lang="en-US" dirty="0"/>
              <a:t>Ignores how confident the prediction is. A prediction of 0.51 and 0.99 are treated the same, even though they represent very different levels of certainty</a:t>
            </a:r>
          </a:p>
          <a:p>
            <a:r>
              <a:rPr lang="en-US" b="1" dirty="0"/>
              <a:t>ROC-AUC:</a:t>
            </a:r>
          </a:p>
          <a:p>
            <a:r>
              <a:rPr lang="en-US" dirty="0"/>
              <a:t>ROC-AUC measures how well the model distinguishes between winning and losing situations by evaluating how consistently it assigns higher probabilities to wins than to losses.</a:t>
            </a:r>
            <a:endParaRPr lang="en-US" b="1" dirty="0"/>
          </a:p>
          <a:p>
            <a:r>
              <a:rPr lang="en-US" dirty="0"/>
              <a:t>Ex: if I were to pick a random winning play and a random losing play, how often does the model give the win a higher probability?</a:t>
            </a:r>
          </a:p>
          <a:p>
            <a:endParaRPr lang="en-US" dirty="0"/>
          </a:p>
        </p:txBody>
      </p:sp>
    </p:spTree>
    <p:extLst>
      <p:ext uri="{BB962C8B-B14F-4D97-AF65-F5344CB8AC3E}">
        <p14:creationId xmlns:p14="http://schemas.microsoft.com/office/powerpoint/2010/main" val="13026907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47A33-778F-1CCA-5039-298AADCA8D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6357DD-5B47-7F2F-51F1-254DFA386F19}"/>
              </a:ext>
            </a:extLst>
          </p:cNvPr>
          <p:cNvSpPr>
            <a:spLocks noGrp="1"/>
          </p:cNvSpPr>
          <p:nvPr>
            <p:ph type="title"/>
          </p:nvPr>
        </p:nvSpPr>
        <p:spPr/>
        <p:txBody>
          <a:bodyPr/>
          <a:lstStyle/>
          <a:p>
            <a:r>
              <a:rPr lang="en-US" dirty="0"/>
              <a:t>The Metrics (cont.)</a:t>
            </a:r>
          </a:p>
        </p:txBody>
      </p:sp>
      <p:sp>
        <p:nvSpPr>
          <p:cNvPr id="3" name="Content Placeholder 2">
            <a:extLst>
              <a:ext uri="{FF2B5EF4-FFF2-40B4-BE49-F238E27FC236}">
                <a16:creationId xmlns:a16="http://schemas.microsoft.com/office/drawing/2014/main" id="{CB35F311-DC9B-0FE6-3118-F3F832704E51}"/>
              </a:ext>
            </a:extLst>
          </p:cNvPr>
          <p:cNvSpPr>
            <a:spLocks noGrp="1"/>
          </p:cNvSpPr>
          <p:nvPr>
            <p:ph idx="1"/>
          </p:nvPr>
        </p:nvSpPr>
        <p:spPr/>
        <p:txBody>
          <a:bodyPr>
            <a:normAutofit fontScale="92500" lnSpcReduction="20000"/>
          </a:bodyPr>
          <a:lstStyle/>
          <a:p>
            <a:r>
              <a:rPr lang="en-US" b="1" dirty="0"/>
              <a:t>Brier Score:</a:t>
            </a:r>
          </a:p>
          <a:p>
            <a:r>
              <a:rPr lang="en-US" dirty="0"/>
              <a:t>Mean squared error of predicted probabilities</a:t>
            </a:r>
          </a:p>
          <a:p>
            <a:r>
              <a:rPr lang="en-US" dirty="0"/>
              <a:t>The Brier Score measures how close predicted probabilities are to the actual outcomes, using squared error.</a:t>
            </a:r>
          </a:p>
          <a:p>
            <a:r>
              <a:rPr lang="en-US" dirty="0"/>
              <a:t>It directly measures probability accuracy and validates real-world reliability</a:t>
            </a:r>
          </a:p>
          <a:p>
            <a:r>
              <a:rPr lang="en-US" b="1" dirty="0"/>
              <a:t>Log Loss:</a:t>
            </a:r>
          </a:p>
          <a:p>
            <a:r>
              <a:rPr lang="en-US" dirty="0"/>
              <a:t>Measures how close the predicted probability is to the actual outcome (0 or 1). It heavily penalizes 'confident' but wrong predictions.</a:t>
            </a:r>
          </a:p>
          <a:p>
            <a:r>
              <a:rPr lang="en-US" dirty="0"/>
              <a:t>In win probability modeling, we care not just about being right, but about being correctly confident. Log loss captures this.</a:t>
            </a:r>
          </a:p>
        </p:txBody>
      </p:sp>
    </p:spTree>
    <p:extLst>
      <p:ext uri="{BB962C8B-B14F-4D97-AF65-F5344CB8AC3E}">
        <p14:creationId xmlns:p14="http://schemas.microsoft.com/office/powerpoint/2010/main" val="3125564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E51EC-3113-6C57-263C-395A92FE72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1E3237-C6A3-BD61-A196-ABA1F9A6B95C}"/>
              </a:ext>
            </a:extLst>
          </p:cNvPr>
          <p:cNvSpPr>
            <a:spLocks noGrp="1"/>
          </p:cNvSpPr>
          <p:nvPr>
            <p:ph type="title"/>
          </p:nvPr>
        </p:nvSpPr>
        <p:spPr/>
        <p:txBody>
          <a:bodyPr/>
          <a:lstStyle/>
          <a:p>
            <a:r>
              <a:rPr lang="en-US" dirty="0"/>
              <a:t>The Data	</a:t>
            </a:r>
          </a:p>
        </p:txBody>
      </p:sp>
      <p:sp>
        <p:nvSpPr>
          <p:cNvPr id="3" name="Content Placeholder 2">
            <a:extLst>
              <a:ext uri="{FF2B5EF4-FFF2-40B4-BE49-F238E27FC236}">
                <a16:creationId xmlns:a16="http://schemas.microsoft.com/office/drawing/2014/main" id="{26333E29-716C-A254-7EBC-005750F99C07}"/>
              </a:ext>
            </a:extLst>
          </p:cNvPr>
          <p:cNvSpPr>
            <a:spLocks noGrp="1"/>
          </p:cNvSpPr>
          <p:nvPr>
            <p:ph idx="1"/>
          </p:nvPr>
        </p:nvSpPr>
        <p:spPr/>
        <p:txBody>
          <a:bodyPr>
            <a:normAutofit fontScale="92500"/>
          </a:bodyPr>
          <a:lstStyle/>
          <a:p>
            <a:r>
              <a:rPr lang="en-US" b="1" dirty="0"/>
              <a:t>Scope:</a:t>
            </a:r>
            <a:r>
              <a:rPr lang="en-US" dirty="0"/>
              <a:t> 8 complete seasons of College Football (2017–2019, 2021–2025). Over 10,000 games</a:t>
            </a:r>
          </a:p>
          <a:p>
            <a:r>
              <a:rPr lang="en-US" b="1" dirty="0"/>
              <a:t>Scale:</a:t>
            </a:r>
            <a:r>
              <a:rPr lang="en-US" dirty="0"/>
              <a:t> ~1.72 million individual play events.</a:t>
            </a:r>
          </a:p>
          <a:p>
            <a:r>
              <a:rPr lang="en-US" b="1" dirty="0"/>
              <a:t>Breadth:</a:t>
            </a:r>
            <a:r>
              <a:rPr lang="en-US" dirty="0"/>
              <a:t> Covers all FBS-level programs, including non-conference and bowl games.</a:t>
            </a:r>
          </a:p>
          <a:p>
            <a:r>
              <a:rPr lang="en-US" b="1" dirty="0"/>
              <a:t>Dimensionality:</a:t>
            </a:r>
            <a:r>
              <a:rPr lang="en-US" dirty="0"/>
              <a:t> 362 columns including deep text descriptions, team metadata, and coordinate-level EPA/PPA metrics.</a:t>
            </a:r>
          </a:p>
          <a:p>
            <a:r>
              <a:rPr lang="en-US" b="1" dirty="0"/>
              <a:t>Non-Action Events:</a:t>
            </a:r>
            <a:r>
              <a:rPr lang="en-US" dirty="0"/>
              <a:t> ’noise’,  containing thousands of administrative rows (coin tosses, timeouts, end-of-period markers) that have no 'pre-snap' value but impact game state logic.</a:t>
            </a:r>
          </a:p>
          <a:p>
            <a:endParaRPr lang="en-US" dirty="0"/>
          </a:p>
        </p:txBody>
      </p:sp>
    </p:spTree>
    <p:extLst>
      <p:ext uri="{BB962C8B-B14F-4D97-AF65-F5344CB8AC3E}">
        <p14:creationId xmlns:p14="http://schemas.microsoft.com/office/powerpoint/2010/main" val="3400516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4496F-C797-4683-2B4F-58650AB175B2}"/>
              </a:ext>
            </a:extLst>
          </p:cNvPr>
          <p:cNvSpPr>
            <a:spLocks noGrp="1"/>
          </p:cNvSpPr>
          <p:nvPr>
            <p:ph type="title"/>
          </p:nvPr>
        </p:nvSpPr>
        <p:spPr/>
        <p:txBody>
          <a:bodyPr/>
          <a:lstStyle/>
          <a:p>
            <a:r>
              <a:rPr lang="en-US" dirty="0"/>
              <a:t>The Data (challenges)</a:t>
            </a:r>
          </a:p>
        </p:txBody>
      </p:sp>
      <p:sp>
        <p:nvSpPr>
          <p:cNvPr id="3" name="Content Placeholder 2">
            <a:extLst>
              <a:ext uri="{FF2B5EF4-FFF2-40B4-BE49-F238E27FC236}">
                <a16:creationId xmlns:a16="http://schemas.microsoft.com/office/drawing/2014/main" id="{951D04EE-92AC-410D-4D74-BAA8AEDF4E86}"/>
              </a:ext>
            </a:extLst>
          </p:cNvPr>
          <p:cNvSpPr>
            <a:spLocks noGrp="1"/>
          </p:cNvSpPr>
          <p:nvPr>
            <p:ph idx="1"/>
          </p:nvPr>
        </p:nvSpPr>
        <p:spPr/>
        <p:txBody>
          <a:bodyPr>
            <a:normAutofit fontScale="92500" lnSpcReduction="20000"/>
          </a:bodyPr>
          <a:lstStyle/>
          <a:p>
            <a:r>
              <a:rPr lang="en-US" b="1" dirty="0"/>
              <a:t>The Issue:</a:t>
            </a:r>
            <a:br>
              <a:rPr lang="en-US" dirty="0"/>
            </a:br>
            <a:r>
              <a:rPr lang="en-US" dirty="0"/>
              <a:t>Raw datasets often contain '1st and Goal’ plays where the distance to a first down is listed as 10 yards, even if the team is on the 2-yard line. This contradiction (requiring 10 yards for a first down with only 2 yards left on the field) created significant noise in field position value.</a:t>
            </a:r>
          </a:p>
          <a:p>
            <a:r>
              <a:rPr lang="en-US" b="1" dirty="0"/>
              <a:t>The Solution:</a:t>
            </a:r>
          </a:p>
          <a:p>
            <a:r>
              <a:rPr lang="en-US" dirty="0"/>
              <a:t>We applied a distance cap</a:t>
            </a:r>
            <a:r>
              <a:rPr lang="en-US" b="1" dirty="0"/>
              <a:t> </a:t>
            </a:r>
            <a:r>
              <a:rPr lang="en-US" dirty="0"/>
              <a:t>via the </a:t>
            </a:r>
            <a:r>
              <a:rPr lang="en-US" dirty="0" err="1"/>
              <a:t>PySpark</a:t>
            </a:r>
            <a:r>
              <a:rPr lang="en-US" dirty="0"/>
              <a:t> pipeline.</a:t>
            </a:r>
          </a:p>
          <a:p>
            <a:r>
              <a:rPr lang="en-US" dirty="0"/>
              <a:t>Whenever the </a:t>
            </a:r>
            <a:r>
              <a:rPr lang="en-US" dirty="0" err="1"/>
              <a:t>Goal_To_Go</a:t>
            </a:r>
            <a:r>
              <a:rPr lang="en-US" dirty="0"/>
              <a:t> flag is True, we force the distance to equal the </a:t>
            </a:r>
            <a:r>
              <a:rPr lang="en-US" dirty="0" err="1"/>
              <a:t>yards_to_goal</a:t>
            </a:r>
            <a:r>
              <a:rPr lang="en-US" dirty="0"/>
              <a:t>.</a:t>
            </a:r>
          </a:p>
          <a:p>
            <a:r>
              <a:rPr lang="en-US" dirty="0"/>
              <a:t>This ensures the model correctly learns that scoring a touchdown is the way to convert in a goal-to-go situation, improving our Red Zone win probability accuracy.</a:t>
            </a:r>
          </a:p>
          <a:p>
            <a:endParaRPr lang="en-US" dirty="0"/>
          </a:p>
        </p:txBody>
      </p:sp>
    </p:spTree>
    <p:extLst>
      <p:ext uri="{BB962C8B-B14F-4D97-AF65-F5344CB8AC3E}">
        <p14:creationId xmlns:p14="http://schemas.microsoft.com/office/powerpoint/2010/main" val="1071029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A2365-CDDA-7B04-397A-5E5815ABAF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B7B029-888D-4F00-A92E-8482243C9BE3}"/>
              </a:ext>
            </a:extLst>
          </p:cNvPr>
          <p:cNvSpPr>
            <a:spLocks noGrp="1"/>
          </p:cNvSpPr>
          <p:nvPr>
            <p:ph type="title"/>
          </p:nvPr>
        </p:nvSpPr>
        <p:spPr/>
        <p:txBody>
          <a:bodyPr/>
          <a:lstStyle/>
          <a:p>
            <a:r>
              <a:rPr lang="en-US" dirty="0"/>
              <a:t>The Data (challenges)</a:t>
            </a:r>
          </a:p>
        </p:txBody>
      </p:sp>
      <p:sp>
        <p:nvSpPr>
          <p:cNvPr id="3" name="Content Placeholder 2">
            <a:extLst>
              <a:ext uri="{FF2B5EF4-FFF2-40B4-BE49-F238E27FC236}">
                <a16:creationId xmlns:a16="http://schemas.microsoft.com/office/drawing/2014/main" id="{5E52DD84-887E-C69F-C40E-81750F3AF268}"/>
              </a:ext>
            </a:extLst>
          </p:cNvPr>
          <p:cNvSpPr>
            <a:spLocks noGrp="1"/>
          </p:cNvSpPr>
          <p:nvPr>
            <p:ph idx="1"/>
          </p:nvPr>
        </p:nvSpPr>
        <p:spPr/>
        <p:txBody>
          <a:bodyPr>
            <a:normAutofit fontScale="92500" lnSpcReduction="10000"/>
          </a:bodyPr>
          <a:lstStyle/>
          <a:p>
            <a:r>
              <a:rPr lang="en-US" b="1" dirty="0"/>
              <a:t>The Issue:</a:t>
            </a:r>
            <a:br>
              <a:rPr lang="en-US" dirty="0"/>
            </a:br>
            <a:r>
              <a:rPr lang="en-US" dirty="0"/>
              <a:t>Standard play-by-play data typically tracks </a:t>
            </a:r>
            <a:r>
              <a:rPr lang="en-US" dirty="0" err="1"/>
              <a:t>TimeSecsRem</a:t>
            </a:r>
            <a:r>
              <a:rPr lang="en-US" dirty="0"/>
              <a:t> within each half (1800 seconds to 0). This causes a mathematical 'break' at halftime, making it difficult for models to distinguish between a lead in the 2nd quarter versus the 4th quarter.</a:t>
            </a:r>
          </a:p>
          <a:p>
            <a:r>
              <a:rPr lang="en-US" b="1" dirty="0"/>
              <a:t>The Solution:</a:t>
            </a:r>
            <a:br>
              <a:rPr lang="en-US" dirty="0"/>
            </a:br>
            <a:r>
              <a:rPr lang="en-US" dirty="0"/>
              <a:t>We implemented a Game Clock normalization.</a:t>
            </a:r>
          </a:p>
          <a:p>
            <a:r>
              <a:rPr lang="en-US" dirty="0"/>
              <a:t>If period is 3 or 4, we maintain the linear countdown from 3600 seconds.</a:t>
            </a:r>
          </a:p>
          <a:p>
            <a:r>
              <a:rPr lang="en-US" dirty="0"/>
              <a:t>This provides the model with a continuous urgency feature, ensuring it understands that a 7-point deficit with 120 seconds left in the game is more critical than 120 seconds left in the half.</a:t>
            </a:r>
          </a:p>
          <a:p>
            <a:endParaRPr lang="en-US" dirty="0"/>
          </a:p>
        </p:txBody>
      </p:sp>
    </p:spTree>
    <p:extLst>
      <p:ext uri="{BB962C8B-B14F-4D97-AF65-F5344CB8AC3E}">
        <p14:creationId xmlns:p14="http://schemas.microsoft.com/office/powerpoint/2010/main" val="1968100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0AC24-0A4E-061C-0A90-2702912AC5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F1B538-70ED-E4A1-F10B-3960B4D32433}"/>
              </a:ext>
            </a:extLst>
          </p:cNvPr>
          <p:cNvSpPr>
            <a:spLocks noGrp="1"/>
          </p:cNvSpPr>
          <p:nvPr>
            <p:ph type="title"/>
          </p:nvPr>
        </p:nvSpPr>
        <p:spPr/>
        <p:txBody>
          <a:bodyPr/>
          <a:lstStyle/>
          <a:p>
            <a:r>
              <a:rPr lang="en-US" dirty="0"/>
              <a:t>The Data (challenges)</a:t>
            </a:r>
          </a:p>
        </p:txBody>
      </p:sp>
      <p:sp>
        <p:nvSpPr>
          <p:cNvPr id="3" name="Content Placeholder 2">
            <a:extLst>
              <a:ext uri="{FF2B5EF4-FFF2-40B4-BE49-F238E27FC236}">
                <a16:creationId xmlns:a16="http://schemas.microsoft.com/office/drawing/2014/main" id="{E2E9395A-D944-4088-F10A-7F7ACF8E5F55}"/>
              </a:ext>
            </a:extLst>
          </p:cNvPr>
          <p:cNvSpPr>
            <a:spLocks noGrp="1"/>
          </p:cNvSpPr>
          <p:nvPr>
            <p:ph idx="1"/>
          </p:nvPr>
        </p:nvSpPr>
        <p:spPr/>
        <p:txBody>
          <a:bodyPr>
            <a:normAutofit fontScale="77500" lnSpcReduction="20000"/>
          </a:bodyPr>
          <a:lstStyle/>
          <a:p>
            <a:r>
              <a:rPr lang="en-US" dirty="0"/>
              <a:t>Beyond the primary issues of clock resets and Red Zone distance errors, the ingestion process revealed several other noise factors</a:t>
            </a:r>
          </a:p>
          <a:p>
            <a:r>
              <a:rPr lang="en-US" b="1" dirty="0"/>
              <a:t>Duplicate Event Sequencing</a:t>
            </a:r>
            <a:r>
              <a:rPr lang="en-US" dirty="0"/>
              <a:t>: In roughly 0.5% of games, the </a:t>
            </a:r>
            <a:r>
              <a:rPr lang="en-US" dirty="0" err="1"/>
              <a:t>game_play_number</a:t>
            </a:r>
            <a:r>
              <a:rPr lang="en-US" dirty="0"/>
              <a:t> would skip or duplicate. We had to implement a secondary sort using period and </a:t>
            </a:r>
            <a:r>
              <a:rPr lang="en-US" dirty="0" err="1"/>
              <a:t>TimeSecsRem</a:t>
            </a:r>
            <a:r>
              <a:rPr lang="en-US" dirty="0"/>
              <a:t> to ensure chronological integrity.</a:t>
            </a:r>
          </a:p>
          <a:p>
            <a:r>
              <a:rPr lang="en-US" b="1" dirty="0"/>
              <a:t>Garbage 'Play Text'</a:t>
            </a:r>
            <a:r>
              <a:rPr lang="en-US" dirty="0"/>
              <a:t>: We found several hundred rows where the </a:t>
            </a:r>
            <a:r>
              <a:rPr lang="en-US" dirty="0" err="1"/>
              <a:t>play_text</a:t>
            </a:r>
            <a:r>
              <a:rPr lang="en-US" dirty="0"/>
              <a:t> was simply “ BREAK " or "null", yet these rows contained valid score and time data. These had to be manually re-classified or dropped if they lacked a </a:t>
            </a:r>
            <a:r>
              <a:rPr lang="en-US" dirty="0" err="1"/>
              <a:t>play_type</a:t>
            </a:r>
            <a:r>
              <a:rPr lang="en-US" dirty="0"/>
              <a:t>.</a:t>
            </a:r>
          </a:p>
          <a:p>
            <a:r>
              <a:rPr lang="en-US" b="1" dirty="0"/>
              <a:t>Score Differential Spikes</a:t>
            </a:r>
            <a:r>
              <a:rPr lang="en-US" dirty="0"/>
              <a:t>: Some raw rows recorded a score change </a:t>
            </a:r>
            <a:r>
              <a:rPr lang="en-US" i="1" dirty="0"/>
              <a:t>before</a:t>
            </a:r>
            <a:r>
              <a:rPr lang="en-US" dirty="0"/>
              <a:t> the touchdown play was actually logged. We resolved this by calculating </a:t>
            </a:r>
            <a:r>
              <a:rPr lang="en-US" dirty="0" err="1"/>
              <a:t>pos_score_diff</a:t>
            </a:r>
            <a:r>
              <a:rPr lang="en-US" dirty="0"/>
              <a:t> based on the starting score of the play rather than the end-of-play result.</a:t>
            </a:r>
          </a:p>
          <a:p>
            <a:r>
              <a:rPr lang="en-US" b="1" dirty="0"/>
              <a:t>Overtime Logic</a:t>
            </a:r>
            <a:r>
              <a:rPr lang="en-US" dirty="0"/>
              <a:t>: Overtime periods (Period 5+) follow entirely different rules (no clock, specific yardage). We opted to filter these out of the standard Win Probability model to prevent them from skewing the 'Time Remaining' weights in the 4th quarter.</a:t>
            </a:r>
          </a:p>
          <a:p>
            <a:endParaRPr lang="en-US" dirty="0"/>
          </a:p>
        </p:txBody>
      </p:sp>
    </p:spTree>
    <p:extLst>
      <p:ext uri="{BB962C8B-B14F-4D97-AF65-F5344CB8AC3E}">
        <p14:creationId xmlns:p14="http://schemas.microsoft.com/office/powerpoint/2010/main" val="1700533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178FA-E1A1-18B0-6B64-B538FB8BB933}"/>
              </a:ext>
            </a:extLst>
          </p:cNvPr>
          <p:cNvSpPr>
            <a:spLocks noGrp="1"/>
          </p:cNvSpPr>
          <p:nvPr>
            <p:ph type="title"/>
          </p:nvPr>
        </p:nvSpPr>
        <p:spPr/>
        <p:txBody>
          <a:bodyPr/>
          <a:lstStyle/>
          <a:p>
            <a:r>
              <a:rPr lang="en-US" dirty="0" err="1"/>
              <a:t>PySpark</a:t>
            </a:r>
            <a:r>
              <a:rPr lang="en-US" dirty="0"/>
              <a:t> Utilization</a:t>
            </a:r>
          </a:p>
        </p:txBody>
      </p:sp>
      <p:sp>
        <p:nvSpPr>
          <p:cNvPr id="3" name="Content Placeholder 2">
            <a:extLst>
              <a:ext uri="{FF2B5EF4-FFF2-40B4-BE49-F238E27FC236}">
                <a16:creationId xmlns:a16="http://schemas.microsoft.com/office/drawing/2014/main" id="{2403D9CE-5240-8E4B-B602-04A5BFDE08D5}"/>
              </a:ext>
            </a:extLst>
          </p:cNvPr>
          <p:cNvSpPr>
            <a:spLocks noGrp="1"/>
          </p:cNvSpPr>
          <p:nvPr>
            <p:ph idx="1"/>
          </p:nvPr>
        </p:nvSpPr>
        <p:spPr/>
        <p:txBody>
          <a:bodyPr>
            <a:normAutofit fontScale="85000" lnSpcReduction="20000"/>
          </a:bodyPr>
          <a:lstStyle/>
          <a:p>
            <a:r>
              <a:rPr lang="en-US" dirty="0"/>
              <a:t>Processing 1.7 million rows with 360+ columns required significant memory. Standard Pandas operations would often trigger Out-Of-Memory (OOM) errors</a:t>
            </a:r>
          </a:p>
          <a:p>
            <a:r>
              <a:rPr lang="en-US" dirty="0" err="1"/>
              <a:t>PySpark’s</a:t>
            </a:r>
            <a:r>
              <a:rPr lang="en-US" dirty="0"/>
              <a:t> distributed architecture lazily evaluates data, allowing it to process millions of rows across a cluster or partitioned local memory.</a:t>
            </a:r>
          </a:p>
          <a:p>
            <a:r>
              <a:rPr lang="en-US" b="1" dirty="0" err="1"/>
              <a:t>PySpark</a:t>
            </a:r>
            <a:r>
              <a:rPr lang="en-US" b="1" dirty="0"/>
              <a:t> :</a:t>
            </a:r>
            <a:endParaRPr lang="en-US" dirty="0"/>
          </a:p>
          <a:p>
            <a:pPr lvl="1"/>
            <a:r>
              <a:rPr lang="en-US" dirty="0"/>
              <a:t>Used distributed window functions to sort plays chronologically by game, period, and clock time.</a:t>
            </a:r>
          </a:p>
          <a:p>
            <a:pPr lvl="1"/>
            <a:r>
              <a:rPr lang="en-US" dirty="0"/>
              <a:t>Imputing values like remaining timeouts required forward-filling data based on both </a:t>
            </a:r>
            <a:r>
              <a:rPr lang="en-US" dirty="0" err="1"/>
              <a:t>game_id</a:t>
            </a:r>
            <a:r>
              <a:rPr lang="en-US" dirty="0"/>
              <a:t> and half. </a:t>
            </a:r>
            <a:r>
              <a:rPr lang="en-US" dirty="0" err="1"/>
              <a:t>PySpark’s</a:t>
            </a:r>
            <a:r>
              <a:rPr lang="en-US" dirty="0"/>
              <a:t> Window functions were efficient at these conditional grouped operations </a:t>
            </a:r>
          </a:p>
          <a:p>
            <a:pPr lvl="1"/>
            <a:r>
              <a:rPr lang="en-US" dirty="0"/>
              <a:t>Calculated new features like rolling averages for EPA and Yards over the previous 5 plays. Because Spark is distributed, it handled these partitions (grouped by game) in parallel.</a:t>
            </a:r>
          </a:p>
          <a:p>
            <a:pPr lvl="1"/>
            <a:r>
              <a:rPr lang="en-US" dirty="0"/>
              <a:t>We used Spark to perform the ‘trimming’ by dropping hundreds of raw text columns and metadata</a:t>
            </a:r>
          </a:p>
          <a:p>
            <a:pPr marL="457200" lvl="1" indent="0">
              <a:buNone/>
            </a:pPr>
            <a:endParaRPr lang="en-US" dirty="0"/>
          </a:p>
          <a:p>
            <a:endParaRPr lang="en-US" dirty="0"/>
          </a:p>
        </p:txBody>
      </p:sp>
    </p:spTree>
    <p:extLst>
      <p:ext uri="{BB962C8B-B14F-4D97-AF65-F5344CB8AC3E}">
        <p14:creationId xmlns:p14="http://schemas.microsoft.com/office/powerpoint/2010/main" val="3566253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4EAE0-C667-133D-83E3-4AADFC757AA4}"/>
              </a:ext>
            </a:extLst>
          </p:cNvPr>
          <p:cNvSpPr>
            <a:spLocks noGrp="1"/>
          </p:cNvSpPr>
          <p:nvPr>
            <p:ph type="title"/>
          </p:nvPr>
        </p:nvSpPr>
        <p:spPr/>
        <p:txBody>
          <a:bodyPr/>
          <a:lstStyle/>
          <a:p>
            <a:r>
              <a:rPr lang="en-US" dirty="0"/>
              <a:t>FEATURE SET (24 FEATURES)</a:t>
            </a:r>
          </a:p>
        </p:txBody>
      </p:sp>
      <p:sp>
        <p:nvSpPr>
          <p:cNvPr id="3" name="Content Placeholder 2">
            <a:extLst>
              <a:ext uri="{FF2B5EF4-FFF2-40B4-BE49-F238E27FC236}">
                <a16:creationId xmlns:a16="http://schemas.microsoft.com/office/drawing/2014/main" id="{FAAF87E2-7C6E-7CE2-E6A6-68513E12B955}"/>
              </a:ext>
            </a:extLst>
          </p:cNvPr>
          <p:cNvSpPr>
            <a:spLocks noGrp="1"/>
          </p:cNvSpPr>
          <p:nvPr>
            <p:ph idx="1"/>
          </p:nvPr>
        </p:nvSpPr>
        <p:spPr/>
        <p:txBody>
          <a:bodyPr>
            <a:normAutofit fontScale="92500" lnSpcReduction="20000"/>
          </a:bodyPr>
          <a:lstStyle/>
          <a:p>
            <a:pPr marL="0" indent="0">
              <a:buNone/>
            </a:pPr>
            <a:r>
              <a:rPr lang="en-US" b="1" dirty="0"/>
              <a:t>Base Game State &amp; Priors (11 Features)</a:t>
            </a:r>
            <a:endParaRPr lang="en-US" dirty="0"/>
          </a:p>
          <a:p>
            <a:pPr marL="0" indent="0">
              <a:buNone/>
            </a:pPr>
            <a:r>
              <a:rPr lang="en-US" dirty="0"/>
              <a:t>We started by aligning the raw play-by-play data to the perspective of the Possession Team (the team with the ball):</a:t>
            </a:r>
          </a:p>
          <a:p>
            <a:r>
              <a:rPr lang="en-US" dirty="0"/>
              <a:t>down, distance, </a:t>
            </a:r>
            <a:r>
              <a:rPr lang="en-US" dirty="0" err="1"/>
              <a:t>yards_to_goal</a:t>
            </a:r>
            <a:r>
              <a:rPr lang="en-US" dirty="0"/>
              <a:t>, </a:t>
            </a:r>
            <a:r>
              <a:rPr lang="en-US" dirty="0" err="1"/>
              <a:t>TimeSecsRem</a:t>
            </a:r>
            <a:r>
              <a:rPr lang="en-US" dirty="0"/>
              <a:t> : (represents raw field position and clock)</a:t>
            </a:r>
          </a:p>
          <a:p>
            <a:r>
              <a:rPr lang="en-US" dirty="0" err="1"/>
              <a:t>pos_score_diff</a:t>
            </a:r>
            <a:r>
              <a:rPr lang="en-US" dirty="0"/>
              <a:t> : (Score differential in relation to who has possession)</a:t>
            </a:r>
          </a:p>
          <a:p>
            <a:r>
              <a:rPr lang="en-US" dirty="0" err="1"/>
              <a:t>pos_team_timeouts_rem_before</a:t>
            </a:r>
            <a:r>
              <a:rPr lang="en-US" dirty="0"/>
              <a:t>, </a:t>
            </a:r>
            <a:r>
              <a:rPr lang="en-US" dirty="0" err="1"/>
              <a:t>def_pos_team_timeouts_rem_before</a:t>
            </a:r>
            <a:r>
              <a:rPr lang="en-US" dirty="0"/>
              <a:t> :  (Timeouts)</a:t>
            </a:r>
          </a:p>
          <a:p>
            <a:r>
              <a:rPr lang="en-US" dirty="0"/>
              <a:t> </a:t>
            </a:r>
            <a:r>
              <a:rPr lang="en-US" dirty="0" err="1"/>
              <a:t>is_home_team</a:t>
            </a:r>
            <a:r>
              <a:rPr lang="en-US" dirty="0"/>
              <a:t> : (Binary flag for home-field advantage)</a:t>
            </a:r>
          </a:p>
          <a:p>
            <a:r>
              <a:rPr lang="en-US" dirty="0" err="1"/>
              <a:t>pos_team_elo</a:t>
            </a:r>
            <a:r>
              <a:rPr lang="en-US" dirty="0"/>
              <a:t>, </a:t>
            </a:r>
            <a:r>
              <a:rPr lang="en-US" dirty="0" err="1"/>
              <a:t>def_pos_team_elo</a:t>
            </a:r>
            <a:r>
              <a:rPr lang="en-US" dirty="0"/>
              <a:t> : (Pre-game team strength ratings)</a:t>
            </a:r>
          </a:p>
          <a:p>
            <a:r>
              <a:rPr lang="en-US" dirty="0" err="1"/>
              <a:t>pos_team_spread</a:t>
            </a:r>
            <a:r>
              <a:rPr lang="en-US" dirty="0"/>
              <a:t>  : (Vegas spread aligned to the possessing team)</a:t>
            </a:r>
          </a:p>
          <a:p>
            <a:endParaRPr lang="en-US" dirty="0"/>
          </a:p>
        </p:txBody>
      </p:sp>
    </p:spTree>
    <p:extLst>
      <p:ext uri="{BB962C8B-B14F-4D97-AF65-F5344CB8AC3E}">
        <p14:creationId xmlns:p14="http://schemas.microsoft.com/office/powerpoint/2010/main" val="2724182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12FE0-2C55-1A26-2DB6-A094F9283A85}"/>
              </a:ext>
            </a:extLst>
          </p:cNvPr>
          <p:cNvSpPr>
            <a:spLocks noGrp="1"/>
          </p:cNvSpPr>
          <p:nvPr>
            <p:ph type="title"/>
          </p:nvPr>
        </p:nvSpPr>
        <p:spPr/>
        <p:txBody>
          <a:bodyPr/>
          <a:lstStyle/>
          <a:p>
            <a:r>
              <a:rPr lang="en-US" dirty="0"/>
              <a:t>FEATURE SET (24 FEATURES)</a:t>
            </a:r>
          </a:p>
        </p:txBody>
      </p:sp>
      <p:sp>
        <p:nvSpPr>
          <p:cNvPr id="3" name="Content Placeholder 2">
            <a:extLst>
              <a:ext uri="{FF2B5EF4-FFF2-40B4-BE49-F238E27FC236}">
                <a16:creationId xmlns:a16="http://schemas.microsoft.com/office/drawing/2014/main" id="{4D7F8042-C595-A383-D9AA-C0E2B83933E2}"/>
              </a:ext>
            </a:extLst>
          </p:cNvPr>
          <p:cNvSpPr>
            <a:spLocks noGrp="1"/>
          </p:cNvSpPr>
          <p:nvPr>
            <p:ph idx="1"/>
          </p:nvPr>
        </p:nvSpPr>
        <p:spPr/>
        <p:txBody>
          <a:bodyPr>
            <a:normAutofit fontScale="92500" lnSpcReduction="20000"/>
          </a:bodyPr>
          <a:lstStyle/>
          <a:p>
            <a:pPr marL="0" indent="0">
              <a:buNone/>
            </a:pPr>
            <a:r>
              <a:rPr lang="en-US" b="1" dirty="0"/>
              <a:t>Drive Fatigue &amp; Rolling Momentum (5 Features)</a:t>
            </a:r>
            <a:endParaRPr lang="en-US" dirty="0"/>
          </a:p>
          <a:p>
            <a:pPr marL="0" indent="0">
              <a:buNone/>
            </a:pPr>
            <a:r>
              <a:rPr lang="en-US" dirty="0"/>
              <a:t> We sorted the data chronologically and used </a:t>
            </a:r>
            <a:r>
              <a:rPr lang="en-US" dirty="0" err="1"/>
              <a:t>PySpark</a:t>
            </a:r>
            <a:r>
              <a:rPr lang="en-US" dirty="0"/>
              <a:t> window functions to look at the past to help predict the future:</a:t>
            </a:r>
          </a:p>
          <a:p>
            <a:r>
              <a:rPr lang="en-US" dirty="0" err="1"/>
              <a:t>drive_yards_so_far</a:t>
            </a:r>
            <a:r>
              <a:rPr lang="en-US" dirty="0"/>
              <a:t>: Cumulative yards gained on the current drive.</a:t>
            </a:r>
          </a:p>
          <a:p>
            <a:r>
              <a:rPr lang="en-US" dirty="0" err="1"/>
              <a:t>drive_success_rate</a:t>
            </a:r>
            <a:r>
              <a:rPr lang="en-US" dirty="0"/>
              <a:t>: The percentage of successful plays on the current drive.</a:t>
            </a:r>
          </a:p>
          <a:p>
            <a:r>
              <a:rPr lang="en-US" dirty="0" err="1"/>
              <a:t>drive_time_elapsed</a:t>
            </a:r>
            <a:r>
              <a:rPr lang="en-US" dirty="0"/>
              <a:t>: How long the offense has been on the field this drive (Fatigue).</a:t>
            </a:r>
          </a:p>
          <a:p>
            <a:r>
              <a:rPr lang="en-US" dirty="0"/>
              <a:t>pos_rolling_EPA_last_5: The Expected Points Added over the team's last 5 plays.</a:t>
            </a:r>
          </a:p>
          <a:p>
            <a:r>
              <a:rPr lang="en-US" dirty="0"/>
              <a:t>pos_rolling_yards_last_5: The average yards gained over the team's last 5 plays.</a:t>
            </a:r>
          </a:p>
          <a:p>
            <a:endParaRPr lang="en-US" dirty="0"/>
          </a:p>
        </p:txBody>
      </p:sp>
    </p:spTree>
    <p:extLst>
      <p:ext uri="{BB962C8B-B14F-4D97-AF65-F5344CB8AC3E}">
        <p14:creationId xmlns:p14="http://schemas.microsoft.com/office/powerpoint/2010/main" val="158096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83384-2864-4177-5F8A-D1A072B270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63EE24-57A6-0743-5718-2496635A1D71}"/>
              </a:ext>
            </a:extLst>
          </p:cNvPr>
          <p:cNvSpPr>
            <a:spLocks noGrp="1"/>
          </p:cNvSpPr>
          <p:nvPr>
            <p:ph type="title"/>
          </p:nvPr>
        </p:nvSpPr>
        <p:spPr/>
        <p:txBody>
          <a:bodyPr/>
          <a:lstStyle/>
          <a:p>
            <a:r>
              <a:rPr lang="en-US" dirty="0"/>
              <a:t>FEATURE SET (24 FEATURES)</a:t>
            </a:r>
          </a:p>
        </p:txBody>
      </p:sp>
      <p:sp>
        <p:nvSpPr>
          <p:cNvPr id="3" name="Content Placeholder 2">
            <a:extLst>
              <a:ext uri="{FF2B5EF4-FFF2-40B4-BE49-F238E27FC236}">
                <a16:creationId xmlns:a16="http://schemas.microsoft.com/office/drawing/2014/main" id="{52206F95-F75D-05F4-F417-107A8C7C1821}"/>
              </a:ext>
            </a:extLst>
          </p:cNvPr>
          <p:cNvSpPr>
            <a:spLocks noGrp="1"/>
          </p:cNvSpPr>
          <p:nvPr>
            <p:ph idx="1"/>
          </p:nvPr>
        </p:nvSpPr>
        <p:spPr/>
        <p:txBody>
          <a:bodyPr>
            <a:normAutofit fontScale="92500" lnSpcReduction="20000"/>
          </a:bodyPr>
          <a:lstStyle/>
          <a:p>
            <a:pPr marL="0" indent="0">
              <a:buNone/>
            </a:pPr>
            <a:r>
              <a:rPr lang="en-US" b="1" dirty="0"/>
              <a:t> Interaction Terms (5 Features)</a:t>
            </a:r>
            <a:br>
              <a:rPr lang="en-US" dirty="0"/>
            </a:br>
            <a:r>
              <a:rPr lang="en-US" dirty="0"/>
              <a:t>We multiplied features together to explicitly teach the models (especially Linear model) about compound situations:</a:t>
            </a:r>
          </a:p>
          <a:p>
            <a:r>
              <a:rPr lang="en-US" dirty="0" err="1"/>
              <a:t>inter_score_x_time</a:t>
            </a:r>
            <a:r>
              <a:rPr lang="en-US" dirty="0"/>
              <a:t>: Score differential multiplied by the fraction of time elapsed. (Being up by 7 points matters a lot more in the 4th quarter than the 1st).</a:t>
            </a:r>
          </a:p>
          <a:p>
            <a:r>
              <a:rPr lang="en-US" dirty="0" err="1"/>
              <a:t>inter_spread_x_time</a:t>
            </a:r>
            <a:r>
              <a:rPr lang="en-US" dirty="0"/>
              <a:t>: Spread multiplied by time remaining. (Pre-game expectations matter less as the game goes on).</a:t>
            </a:r>
          </a:p>
          <a:p>
            <a:r>
              <a:rPr lang="en-US" dirty="0" err="1"/>
              <a:t>inter_down_x_distance</a:t>
            </a:r>
            <a:r>
              <a:rPr lang="en-US" dirty="0"/>
              <a:t>: Down multiplied by distance. (3rd &amp; 10 is much harder than 1st &amp; 10).</a:t>
            </a:r>
          </a:p>
          <a:p>
            <a:r>
              <a:rPr lang="en-US" dirty="0" err="1"/>
              <a:t>inter_elo_diff</a:t>
            </a:r>
            <a:r>
              <a:rPr lang="en-US" dirty="0"/>
              <a:t>: Possession ELO minus Defense ELO.</a:t>
            </a:r>
          </a:p>
          <a:p>
            <a:r>
              <a:rPr lang="en-US" dirty="0" err="1"/>
              <a:t>inter_timeout_diff</a:t>
            </a:r>
            <a:r>
              <a:rPr lang="en-US" dirty="0"/>
              <a:t>: Possession timeouts minus Defense timeouts.</a:t>
            </a:r>
          </a:p>
          <a:p>
            <a:endParaRPr lang="en-US" dirty="0"/>
          </a:p>
        </p:txBody>
      </p:sp>
    </p:spTree>
    <p:extLst>
      <p:ext uri="{BB962C8B-B14F-4D97-AF65-F5344CB8AC3E}">
        <p14:creationId xmlns:p14="http://schemas.microsoft.com/office/powerpoint/2010/main" val="287627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187E2-497D-0273-AF77-91BEFEA2C7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17FDCC-D4C0-8F07-6779-3FCC3371D124}"/>
              </a:ext>
            </a:extLst>
          </p:cNvPr>
          <p:cNvSpPr>
            <a:spLocks noGrp="1"/>
          </p:cNvSpPr>
          <p:nvPr>
            <p:ph type="title"/>
          </p:nvPr>
        </p:nvSpPr>
        <p:spPr/>
        <p:txBody>
          <a:bodyPr/>
          <a:lstStyle/>
          <a:p>
            <a:r>
              <a:rPr lang="en-US" dirty="0"/>
              <a:t>FEATURE SET (24 FEATURES)</a:t>
            </a:r>
          </a:p>
        </p:txBody>
      </p:sp>
      <p:sp>
        <p:nvSpPr>
          <p:cNvPr id="3" name="Content Placeholder 2">
            <a:extLst>
              <a:ext uri="{FF2B5EF4-FFF2-40B4-BE49-F238E27FC236}">
                <a16:creationId xmlns:a16="http://schemas.microsoft.com/office/drawing/2014/main" id="{E5B41600-4CAD-2068-0E44-B4DEFA24364F}"/>
              </a:ext>
            </a:extLst>
          </p:cNvPr>
          <p:cNvSpPr>
            <a:spLocks noGrp="1"/>
          </p:cNvSpPr>
          <p:nvPr>
            <p:ph idx="1"/>
          </p:nvPr>
        </p:nvSpPr>
        <p:spPr/>
        <p:txBody>
          <a:bodyPr>
            <a:normAutofit fontScale="85000" lnSpcReduction="20000"/>
          </a:bodyPr>
          <a:lstStyle/>
          <a:p>
            <a:pPr marL="0" indent="0">
              <a:buNone/>
            </a:pPr>
            <a:r>
              <a:rPr lang="en-US" b="1" dirty="0"/>
              <a:t>Polynomial Terms (3 Features)</a:t>
            </a:r>
            <a:endParaRPr lang="en-US" dirty="0"/>
          </a:p>
          <a:p>
            <a:pPr marL="0" indent="0">
              <a:buNone/>
            </a:pPr>
            <a:r>
              <a:rPr lang="en-US" dirty="0"/>
              <a:t>We squared certain features to account for non-linear relationships (e.g., the difference between the 50-yard line and 40-yard line is small, but the difference between the 15-yard line and 5-yard line is massive):</a:t>
            </a:r>
          </a:p>
          <a:p>
            <a:r>
              <a:rPr lang="en-US" dirty="0" err="1"/>
              <a:t>poly_TimeSecsRem_sq</a:t>
            </a:r>
            <a:r>
              <a:rPr lang="en-US" dirty="0"/>
              <a:t>: Time remaining squared.</a:t>
            </a:r>
          </a:p>
          <a:p>
            <a:r>
              <a:rPr lang="en-US" dirty="0" err="1"/>
              <a:t>poly_yards_to_goal_sq</a:t>
            </a:r>
            <a:r>
              <a:rPr lang="en-US" dirty="0"/>
              <a:t>: Yards to goal squared.</a:t>
            </a:r>
          </a:p>
          <a:p>
            <a:r>
              <a:rPr lang="en-US" dirty="0" err="1"/>
              <a:t>poly_score_diff_sq</a:t>
            </a:r>
            <a:r>
              <a:rPr lang="en-US" dirty="0"/>
              <a:t>: Score differential squared (preserving the negative/positive sign via Sign-preserved Squaring).</a:t>
            </a:r>
          </a:p>
          <a:p>
            <a:pPr marL="0" indent="0">
              <a:buNone/>
            </a:pPr>
            <a:r>
              <a:rPr lang="en-US" b="1" dirty="0"/>
              <a:t>Target Variable</a:t>
            </a:r>
            <a:endParaRPr lang="en-US" dirty="0"/>
          </a:p>
          <a:p>
            <a:r>
              <a:rPr lang="en-US" dirty="0" err="1"/>
              <a:t>pos_team_win</a:t>
            </a:r>
            <a:r>
              <a:rPr lang="en-US" dirty="0"/>
              <a:t>:  We looked ahead to the last play of the game, determined the winner, and mapped 1.0 if the possession team eventually won, and 0.0 if they lost.</a:t>
            </a:r>
          </a:p>
          <a:p>
            <a:endParaRPr lang="en-US" dirty="0"/>
          </a:p>
        </p:txBody>
      </p:sp>
    </p:spTree>
    <p:extLst>
      <p:ext uri="{BB962C8B-B14F-4D97-AF65-F5344CB8AC3E}">
        <p14:creationId xmlns:p14="http://schemas.microsoft.com/office/powerpoint/2010/main" val="35897955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D2F25-596A-DDD4-457C-5C48DE318B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B97965-0BA2-6995-ECAF-751670DB5C2B}"/>
              </a:ext>
            </a:extLst>
          </p:cNvPr>
          <p:cNvSpPr>
            <a:spLocks noGrp="1"/>
          </p:cNvSpPr>
          <p:nvPr>
            <p:ph type="title"/>
          </p:nvPr>
        </p:nvSpPr>
        <p:spPr/>
        <p:txBody>
          <a:bodyPr/>
          <a:lstStyle/>
          <a:p>
            <a:r>
              <a:rPr lang="en-US" dirty="0"/>
              <a:t>The Features</a:t>
            </a:r>
          </a:p>
        </p:txBody>
      </p:sp>
      <p:sp>
        <p:nvSpPr>
          <p:cNvPr id="3" name="Content Placeholder 2">
            <a:extLst>
              <a:ext uri="{FF2B5EF4-FFF2-40B4-BE49-F238E27FC236}">
                <a16:creationId xmlns:a16="http://schemas.microsoft.com/office/drawing/2014/main" id="{24B52BBD-9734-D743-7CC2-E4F40329B93E}"/>
              </a:ext>
            </a:extLst>
          </p:cNvPr>
          <p:cNvSpPr>
            <a:spLocks noGrp="1"/>
          </p:cNvSpPr>
          <p:nvPr>
            <p:ph idx="1"/>
          </p:nvPr>
        </p:nvSpPr>
        <p:spPr/>
        <p:txBody>
          <a:bodyPr>
            <a:normAutofit fontScale="85000" lnSpcReduction="10000"/>
          </a:bodyPr>
          <a:lstStyle/>
          <a:p>
            <a:r>
              <a:rPr lang="en-US" dirty="0"/>
              <a:t>These features were chosen because they directly influence win probability and allow the model to learn how game situations evolve over time.</a:t>
            </a:r>
          </a:p>
          <a:p>
            <a:r>
              <a:rPr lang="en-US" b="1" dirty="0"/>
              <a:t>The Base State features</a:t>
            </a:r>
            <a:r>
              <a:rPr lang="en-US" dirty="0"/>
              <a:t>: Down, Distance, Score Diff, and </a:t>
            </a:r>
            <a:r>
              <a:rPr lang="en-US" dirty="0" err="1"/>
              <a:t>TimeRemaining</a:t>
            </a:r>
            <a:r>
              <a:rPr lang="en-US" dirty="0"/>
              <a:t> </a:t>
            </a:r>
          </a:p>
          <a:p>
            <a:r>
              <a:rPr lang="en-US" b="1" dirty="0"/>
              <a:t>Importance:</a:t>
            </a:r>
            <a:r>
              <a:rPr lang="en-US" dirty="0"/>
              <a:t> These establish the baseline probability. A 1st &amp; 10 at the 50-yard line has a mathematically measurable expected point value that serves as a foundation.</a:t>
            </a:r>
          </a:p>
          <a:p>
            <a:r>
              <a:rPr lang="en-US" b="1" dirty="0"/>
              <a:t>The Interactions Terms</a:t>
            </a:r>
          </a:p>
          <a:p>
            <a:r>
              <a:rPr lang="en-US" dirty="0"/>
              <a:t>Raw features are linear, but football isn’t. Features like </a:t>
            </a:r>
            <a:r>
              <a:rPr lang="en-US" dirty="0" err="1"/>
              <a:t>inter_score_x_time</a:t>
            </a:r>
            <a:r>
              <a:rPr lang="en-US" dirty="0"/>
              <a:t> were created because a 7-point lead in the 1st quarter is common, but a 7-point lead in the 4th quarter is more indicative.</a:t>
            </a:r>
          </a:p>
          <a:p>
            <a:r>
              <a:rPr lang="en-US" b="1" dirty="0"/>
              <a:t>Importance:</a:t>
            </a:r>
            <a:r>
              <a:rPr lang="en-US" dirty="0"/>
              <a:t> These interactions allow the model to weight the score more heavily as the clock approaches zero</a:t>
            </a:r>
          </a:p>
          <a:p>
            <a:endParaRPr lang="en-US" dirty="0"/>
          </a:p>
        </p:txBody>
      </p:sp>
    </p:spTree>
    <p:extLst>
      <p:ext uri="{BB962C8B-B14F-4D97-AF65-F5344CB8AC3E}">
        <p14:creationId xmlns:p14="http://schemas.microsoft.com/office/powerpoint/2010/main" val="13736560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04A80-C84C-2EFC-23F4-B3D39370EE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753F11-52C6-21F4-612C-A2CFE2634971}"/>
              </a:ext>
            </a:extLst>
          </p:cNvPr>
          <p:cNvSpPr>
            <a:spLocks noGrp="1"/>
          </p:cNvSpPr>
          <p:nvPr>
            <p:ph type="title"/>
          </p:nvPr>
        </p:nvSpPr>
        <p:spPr/>
        <p:txBody>
          <a:bodyPr/>
          <a:lstStyle/>
          <a:p>
            <a:r>
              <a:rPr lang="en-US" dirty="0"/>
              <a:t>The Features (cont.)</a:t>
            </a:r>
          </a:p>
        </p:txBody>
      </p:sp>
      <p:sp>
        <p:nvSpPr>
          <p:cNvPr id="3" name="Content Placeholder 2">
            <a:extLst>
              <a:ext uri="{FF2B5EF4-FFF2-40B4-BE49-F238E27FC236}">
                <a16:creationId xmlns:a16="http://schemas.microsoft.com/office/drawing/2014/main" id="{1B68320B-1B25-6E1B-9536-2A306E085450}"/>
              </a:ext>
            </a:extLst>
          </p:cNvPr>
          <p:cNvSpPr>
            <a:spLocks noGrp="1"/>
          </p:cNvSpPr>
          <p:nvPr>
            <p:ph idx="1"/>
          </p:nvPr>
        </p:nvSpPr>
        <p:spPr/>
        <p:txBody>
          <a:bodyPr>
            <a:normAutofit lnSpcReduction="10000"/>
          </a:bodyPr>
          <a:lstStyle/>
          <a:p>
            <a:r>
              <a:rPr lang="en-US" b="1" dirty="0"/>
              <a:t>The Polynomial Features</a:t>
            </a:r>
          </a:p>
          <a:p>
            <a:r>
              <a:rPr lang="en-US" dirty="0"/>
              <a:t>We used squared terms like </a:t>
            </a:r>
            <a:r>
              <a:rPr lang="en-US" dirty="0" err="1"/>
              <a:t>poly_yards_to_goal_sq</a:t>
            </a:r>
            <a:r>
              <a:rPr lang="en-US" dirty="0"/>
              <a:t>.</a:t>
            </a:r>
          </a:p>
          <a:p>
            <a:r>
              <a:rPr lang="en-US" b="1" dirty="0"/>
              <a:t>Importance:</a:t>
            </a:r>
            <a:r>
              <a:rPr lang="en-US" dirty="0"/>
              <a:t> This teaches the model that the field shortens as you enter the Red Zone. The difficulty of gaining 10 yards is higher, and scoring is closer, making these plays higher leverage for win probability.</a:t>
            </a:r>
          </a:p>
          <a:p>
            <a:r>
              <a:rPr lang="en-US" b="1" dirty="0"/>
              <a:t>The Momentum &amp; Prior Expectations</a:t>
            </a:r>
          </a:p>
          <a:p>
            <a:r>
              <a:rPr lang="en-US" dirty="0"/>
              <a:t>We included pos_rolling_EPA_last_5 and </a:t>
            </a:r>
            <a:r>
              <a:rPr lang="en-US" dirty="0" err="1"/>
              <a:t>pos_team_spread</a:t>
            </a:r>
            <a:r>
              <a:rPr lang="en-US" dirty="0"/>
              <a:t>.</a:t>
            </a:r>
          </a:p>
          <a:p>
            <a:r>
              <a:rPr lang="en-US" b="1" dirty="0"/>
              <a:t>Importance:</a:t>
            </a:r>
            <a:r>
              <a:rPr lang="en-US" dirty="0"/>
              <a:t> This balances the pre-game favorite with reality and allows the model to recognize hot streaks during the game.</a:t>
            </a:r>
          </a:p>
          <a:p>
            <a:endParaRPr lang="en-US" dirty="0"/>
          </a:p>
        </p:txBody>
      </p:sp>
    </p:spTree>
    <p:extLst>
      <p:ext uri="{BB962C8B-B14F-4D97-AF65-F5344CB8AC3E}">
        <p14:creationId xmlns:p14="http://schemas.microsoft.com/office/powerpoint/2010/main" val="42682355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531A4-41DB-E949-98A7-777C67659A65}"/>
              </a:ext>
            </a:extLst>
          </p:cNvPr>
          <p:cNvSpPr>
            <a:spLocks noGrp="1"/>
          </p:cNvSpPr>
          <p:nvPr>
            <p:ph type="title"/>
          </p:nvPr>
        </p:nvSpPr>
        <p:spPr/>
        <p:txBody>
          <a:bodyPr/>
          <a:lstStyle/>
          <a:p>
            <a:r>
              <a:rPr lang="en-US" dirty="0"/>
              <a:t>Data Leakage Prevention</a:t>
            </a:r>
          </a:p>
        </p:txBody>
      </p:sp>
      <p:sp>
        <p:nvSpPr>
          <p:cNvPr id="3" name="Content Placeholder 2">
            <a:extLst>
              <a:ext uri="{FF2B5EF4-FFF2-40B4-BE49-F238E27FC236}">
                <a16:creationId xmlns:a16="http://schemas.microsoft.com/office/drawing/2014/main" id="{E8B6EA3C-C986-0537-71D2-4BB579DFD183}"/>
              </a:ext>
            </a:extLst>
          </p:cNvPr>
          <p:cNvSpPr>
            <a:spLocks noGrp="1"/>
          </p:cNvSpPr>
          <p:nvPr>
            <p:ph idx="1"/>
          </p:nvPr>
        </p:nvSpPr>
        <p:spPr/>
        <p:txBody>
          <a:bodyPr>
            <a:normAutofit fontScale="47500" lnSpcReduction="20000"/>
          </a:bodyPr>
          <a:lstStyle/>
          <a:p>
            <a:r>
              <a:rPr lang="en-US" dirty="0"/>
              <a:t>To ensure our Win Probability models are valid for real-time use, we followed a strict 'Pre-Snap' information policy. Data leakage occurs when information from the future (the play's outcome) accidentally 'leaks' into the features used to predict that outcome.</a:t>
            </a:r>
          </a:p>
          <a:p>
            <a:pPr marL="0" indent="0">
              <a:buNone/>
            </a:pPr>
            <a:r>
              <a:rPr lang="en-US" b="1" dirty="0"/>
              <a:t>Temporal Guardrails (Chronological Lagging)</a:t>
            </a:r>
            <a:r>
              <a:rPr lang="en-US" dirty="0"/>
              <a:t> </a:t>
            </a:r>
          </a:p>
          <a:p>
            <a:r>
              <a:rPr lang="en-US" dirty="0"/>
              <a:t>We ensured that every momentum feature (like pos_rolling_yards_last_5) was calculated using a lag(1) window.</a:t>
            </a:r>
          </a:p>
          <a:p>
            <a:r>
              <a:rPr lang="en-US" dirty="0"/>
              <a:t>All historical stats (like Rolling EPA) were shifted by one play so the model never sees the outcome of the play it is currently predicting.</a:t>
            </a:r>
          </a:p>
          <a:p>
            <a:r>
              <a:rPr lang="en-US" b="1" dirty="0"/>
              <a:t>Ex: </a:t>
            </a:r>
            <a:r>
              <a:rPr lang="en-US" dirty="0"/>
              <a:t>For Play #10, the model only sees the stats aggregated from Plays #1 through #9.</a:t>
            </a:r>
          </a:p>
          <a:p>
            <a:r>
              <a:rPr lang="en-US" dirty="0"/>
              <a:t>This prevents the model from 'cheating' by knowing if the current play was successful before making its prediction.</a:t>
            </a:r>
          </a:p>
          <a:p>
            <a:pPr marL="0" indent="0">
              <a:buNone/>
            </a:pPr>
            <a:r>
              <a:rPr lang="en-US" b="1" dirty="0"/>
              <a:t>Statistical Guardrails (Group-Based Splitting)</a:t>
            </a:r>
            <a:r>
              <a:rPr lang="en-US" dirty="0"/>
              <a:t> </a:t>
            </a:r>
          </a:p>
          <a:p>
            <a:r>
              <a:rPr lang="en-US" dirty="0"/>
              <a:t>A standard random train/test split is dangerous for sports data because plays within a single game are highly correlated.</a:t>
            </a:r>
          </a:p>
          <a:p>
            <a:r>
              <a:rPr lang="en-US" dirty="0"/>
              <a:t>We used </a:t>
            </a:r>
            <a:r>
              <a:rPr lang="en-US" dirty="0" err="1"/>
              <a:t>GroupShuffleSplit</a:t>
            </a:r>
            <a:r>
              <a:rPr lang="en-US" dirty="0"/>
              <a:t> on </a:t>
            </a:r>
            <a:r>
              <a:rPr lang="en-US" dirty="0" err="1"/>
              <a:t>game_id</a:t>
            </a:r>
            <a:r>
              <a:rPr lang="en-US" dirty="0"/>
              <a:t>. Entire games are kept together, so the model never trains on one half of a game and tests on the other.</a:t>
            </a:r>
          </a:p>
          <a:p>
            <a:r>
              <a:rPr lang="en-US" b="1" dirty="0"/>
              <a:t>Ex: </a:t>
            </a:r>
            <a:r>
              <a:rPr lang="en-US" dirty="0"/>
              <a:t>If the model sees any part of the 2023 Iron Bowl, it must be in the training set; the test set consists only of entirely unseen games.</a:t>
            </a:r>
          </a:p>
          <a:p>
            <a:pPr marL="0" indent="0">
              <a:buNone/>
            </a:pPr>
            <a:r>
              <a:rPr lang="en-US" b="1" dirty="0"/>
              <a:t>Logical Guardrails (Post-Snap Feature Removal)</a:t>
            </a:r>
            <a:r>
              <a:rPr lang="en-US" dirty="0"/>
              <a:t> </a:t>
            </a:r>
          </a:p>
          <a:p>
            <a:r>
              <a:rPr lang="en-US" dirty="0"/>
              <a:t>We strictly removed any variables that are only known </a:t>
            </a:r>
            <a:r>
              <a:rPr lang="en-US" i="1" dirty="0"/>
              <a:t>after</a:t>
            </a:r>
            <a:r>
              <a:rPr lang="en-US" dirty="0"/>
              <a:t> the whistle blows, such as </a:t>
            </a:r>
            <a:r>
              <a:rPr lang="en-US" dirty="0" err="1"/>
              <a:t>yards_gained</a:t>
            </a:r>
            <a:r>
              <a:rPr lang="en-US" dirty="0"/>
              <a:t>, EPA, or </a:t>
            </a:r>
            <a:r>
              <a:rPr lang="en-US" dirty="0" err="1"/>
              <a:t>play_result</a:t>
            </a:r>
            <a:r>
              <a:rPr lang="en-US" dirty="0"/>
              <a:t> for the current snap.</a:t>
            </a:r>
          </a:p>
          <a:p>
            <a:endParaRPr lang="en-US" dirty="0"/>
          </a:p>
        </p:txBody>
      </p:sp>
    </p:spTree>
    <p:extLst>
      <p:ext uri="{BB962C8B-B14F-4D97-AF65-F5344CB8AC3E}">
        <p14:creationId xmlns:p14="http://schemas.microsoft.com/office/powerpoint/2010/main" val="21298450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E14E6-A1A7-528D-88B3-726BA0F911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80AAB4-7A0E-DA0E-C19A-6073632B66DD}"/>
              </a:ext>
            </a:extLst>
          </p:cNvPr>
          <p:cNvSpPr>
            <a:spLocks noGrp="1"/>
          </p:cNvSpPr>
          <p:nvPr>
            <p:ph type="title"/>
          </p:nvPr>
        </p:nvSpPr>
        <p:spPr/>
        <p:txBody>
          <a:bodyPr/>
          <a:lstStyle/>
          <a:p>
            <a:r>
              <a:rPr lang="en-US" dirty="0"/>
              <a:t>The Linear Model</a:t>
            </a:r>
          </a:p>
        </p:txBody>
      </p:sp>
      <p:sp>
        <p:nvSpPr>
          <p:cNvPr id="3" name="Content Placeholder 2">
            <a:extLst>
              <a:ext uri="{FF2B5EF4-FFF2-40B4-BE49-F238E27FC236}">
                <a16:creationId xmlns:a16="http://schemas.microsoft.com/office/drawing/2014/main" id="{CC8259E2-1CB8-4DB3-9FC5-29D4EFE7CF52}"/>
              </a:ext>
            </a:extLst>
          </p:cNvPr>
          <p:cNvSpPr>
            <a:spLocks noGrp="1"/>
          </p:cNvSpPr>
          <p:nvPr>
            <p:ph idx="1"/>
          </p:nvPr>
        </p:nvSpPr>
        <p:spPr/>
        <p:txBody>
          <a:bodyPr>
            <a:normAutofit fontScale="77500" lnSpcReduction="20000"/>
          </a:bodyPr>
          <a:lstStyle/>
          <a:p>
            <a:r>
              <a:rPr lang="en-US" b="1" dirty="0"/>
              <a:t>Technical Architecture:</a:t>
            </a:r>
            <a:endParaRPr lang="en-US" dirty="0"/>
          </a:p>
          <a:p>
            <a:r>
              <a:rPr lang="en-US" b="1" dirty="0"/>
              <a:t>Algorithm:</a:t>
            </a:r>
            <a:r>
              <a:rPr lang="en-US" dirty="0"/>
              <a:t> Regularized Logistic Regression with an L2 (Ridge) Penalty.</a:t>
            </a:r>
          </a:p>
          <a:p>
            <a:r>
              <a:rPr lang="en-US" b="1" dirty="0"/>
              <a:t>Optimization:</a:t>
            </a:r>
            <a:r>
              <a:rPr lang="en-US" dirty="0"/>
              <a:t> Utilizes the SAGA solver, which is specifically designed for high-performance convergence on massive (1M+ row) datasets.</a:t>
            </a:r>
          </a:p>
          <a:p>
            <a:r>
              <a:rPr lang="en-US" b="1" dirty="0"/>
              <a:t>Calibration Strategy:</a:t>
            </a:r>
            <a:r>
              <a:rPr lang="en-US" dirty="0"/>
              <a:t> Because </a:t>
            </a:r>
            <a:r>
              <a:rPr lang="en-US" dirty="0" err="1"/>
              <a:t>LogReg</a:t>
            </a:r>
            <a:r>
              <a:rPr lang="en-US" dirty="0"/>
              <a:t> naturally outputs probabilities based on the sigmoid function, It provides a mathematically  smooth starting point that anchors the win probability to the pre-game expectations (the Vegas Spread) before any live plays have occurred.</a:t>
            </a:r>
          </a:p>
          <a:p>
            <a:r>
              <a:rPr lang="en-US" b="1" dirty="0"/>
              <a:t>Coefficient Transparency:</a:t>
            </a:r>
            <a:r>
              <a:rPr lang="en-US" dirty="0"/>
              <a:t> Every feature has a weight. We can explicitly see that a 1-unit increase in </a:t>
            </a:r>
            <a:r>
              <a:rPr lang="en-US" dirty="0" err="1"/>
              <a:t>pos_score_diff</a:t>
            </a:r>
            <a:r>
              <a:rPr lang="en-US" dirty="0"/>
              <a:t> increases the log-odds of winning by a fixed amount.</a:t>
            </a:r>
          </a:p>
          <a:p>
            <a:r>
              <a:rPr lang="en-US" b="1" dirty="0"/>
              <a:t>Interaction-Heavy:</a:t>
            </a:r>
            <a:r>
              <a:rPr lang="en-US" dirty="0"/>
              <a:t> Since </a:t>
            </a:r>
            <a:r>
              <a:rPr lang="en-US" dirty="0" err="1"/>
              <a:t>LogReg</a:t>
            </a:r>
            <a:r>
              <a:rPr lang="en-US" dirty="0"/>
              <a:t> is inherently linear, we taught it non-linearity using Interaction Terms (e.g., Score × Time) and Polynomials (e.g., Yards²). This allowed the linear model to mimic the complex nature of a football game.</a:t>
            </a:r>
          </a:p>
          <a:p>
            <a:endParaRPr lang="en-US" dirty="0"/>
          </a:p>
        </p:txBody>
      </p:sp>
    </p:spTree>
    <p:extLst>
      <p:ext uri="{BB962C8B-B14F-4D97-AF65-F5344CB8AC3E}">
        <p14:creationId xmlns:p14="http://schemas.microsoft.com/office/powerpoint/2010/main" val="4934667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99728-2812-BE04-BA21-791E2D9DD6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34BF6B-AC10-026E-D8C5-0D3DBAF27EE9}"/>
              </a:ext>
            </a:extLst>
          </p:cNvPr>
          <p:cNvSpPr>
            <a:spLocks noGrp="1"/>
          </p:cNvSpPr>
          <p:nvPr>
            <p:ph type="title"/>
          </p:nvPr>
        </p:nvSpPr>
        <p:spPr/>
        <p:txBody>
          <a:bodyPr/>
          <a:lstStyle/>
          <a:p>
            <a:r>
              <a:rPr lang="en-US" dirty="0"/>
              <a:t>The Tree Model</a:t>
            </a:r>
          </a:p>
        </p:txBody>
      </p:sp>
      <p:sp>
        <p:nvSpPr>
          <p:cNvPr id="3" name="Content Placeholder 2">
            <a:extLst>
              <a:ext uri="{FF2B5EF4-FFF2-40B4-BE49-F238E27FC236}">
                <a16:creationId xmlns:a16="http://schemas.microsoft.com/office/drawing/2014/main" id="{B02D5554-0E6A-C04C-18D9-B223215B286C}"/>
              </a:ext>
            </a:extLst>
          </p:cNvPr>
          <p:cNvSpPr>
            <a:spLocks noGrp="1"/>
          </p:cNvSpPr>
          <p:nvPr>
            <p:ph idx="1"/>
          </p:nvPr>
        </p:nvSpPr>
        <p:spPr/>
        <p:txBody>
          <a:bodyPr>
            <a:normAutofit fontScale="85000" lnSpcReduction="20000"/>
          </a:bodyPr>
          <a:lstStyle/>
          <a:p>
            <a:r>
              <a:rPr lang="en-US" b="1" dirty="0"/>
              <a:t>Technical Architecture:</a:t>
            </a:r>
            <a:endParaRPr lang="en-US" dirty="0"/>
          </a:p>
          <a:p>
            <a:r>
              <a:rPr lang="en-US" b="1" dirty="0"/>
              <a:t>Algorithm:</a:t>
            </a:r>
            <a:r>
              <a:rPr lang="en-US" dirty="0"/>
              <a:t> Gradient Boosted Decision Trees (GBDT).</a:t>
            </a:r>
          </a:p>
          <a:p>
            <a:r>
              <a:rPr lang="en-US" b="1" dirty="0"/>
              <a:t>Optimization:</a:t>
            </a:r>
            <a:r>
              <a:rPr lang="en-US" dirty="0"/>
              <a:t> Uses </a:t>
            </a:r>
            <a:r>
              <a:rPr lang="en-US" dirty="0" err="1"/>
              <a:t>tree_method</a:t>
            </a:r>
            <a:r>
              <a:rPr lang="en-US" dirty="0"/>
              <a:t>='hist' (Histogram-based building). This binarizes continuous features into buckets, allowing for fast training on over  a million plus plays while reducing memory usage.</a:t>
            </a:r>
          </a:p>
          <a:p>
            <a:r>
              <a:rPr lang="en-US" b="1" dirty="0"/>
              <a:t>Hyperparameters:</a:t>
            </a:r>
            <a:r>
              <a:rPr lang="en-US" dirty="0"/>
              <a:t> Optimized via </a:t>
            </a:r>
            <a:r>
              <a:rPr lang="en-US" dirty="0" err="1"/>
              <a:t>RandomizedSearchCV</a:t>
            </a:r>
            <a:r>
              <a:rPr lang="en-US" dirty="0"/>
              <a:t> to find balance of </a:t>
            </a:r>
            <a:r>
              <a:rPr lang="en-US" dirty="0" err="1"/>
              <a:t>max_depth</a:t>
            </a:r>
            <a:r>
              <a:rPr lang="en-US" dirty="0"/>
              <a:t> (complexity) and </a:t>
            </a:r>
            <a:r>
              <a:rPr lang="en-US" dirty="0" err="1"/>
              <a:t>learning_rate</a:t>
            </a:r>
            <a:r>
              <a:rPr lang="en-US" dirty="0"/>
              <a:t> (precision).</a:t>
            </a:r>
          </a:p>
          <a:p>
            <a:r>
              <a:rPr lang="en-US" b="1" dirty="0"/>
              <a:t>Decision Complexity:</a:t>
            </a:r>
            <a:r>
              <a:rPr lang="en-US" dirty="0"/>
              <a:t> Unlike </a:t>
            </a:r>
            <a:r>
              <a:rPr lang="en-US" dirty="0" err="1"/>
              <a:t>LogReg</a:t>
            </a:r>
            <a:r>
              <a:rPr lang="en-US" dirty="0"/>
              <a:t>, </a:t>
            </a:r>
            <a:r>
              <a:rPr lang="en-US" dirty="0" err="1"/>
              <a:t>XGBoost</a:t>
            </a:r>
            <a:r>
              <a:rPr lang="en-US" dirty="0"/>
              <a:t> doesn't need manual interaction terms to know that '3rd &amp; Short' is different from '3rd &amp; Long.' It discovers these thresholds automatically through tree splitting.</a:t>
            </a:r>
          </a:p>
          <a:p>
            <a:r>
              <a:rPr lang="en-US" b="1" dirty="0"/>
              <a:t>Feature Importance (Gain):</a:t>
            </a:r>
            <a:r>
              <a:rPr lang="en-US" dirty="0"/>
              <a:t> It identifies Vegas Spreads and Momentum (Rolling EPA) as the most critical signals for separating winning trajectories from losing ones.</a:t>
            </a:r>
          </a:p>
          <a:p>
            <a:endParaRPr lang="en-US" dirty="0"/>
          </a:p>
        </p:txBody>
      </p:sp>
    </p:spTree>
    <p:extLst>
      <p:ext uri="{BB962C8B-B14F-4D97-AF65-F5344CB8AC3E}">
        <p14:creationId xmlns:p14="http://schemas.microsoft.com/office/powerpoint/2010/main" val="11632286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FB064-E39E-7A6F-F906-90E549AA526B}"/>
              </a:ext>
            </a:extLst>
          </p:cNvPr>
          <p:cNvSpPr>
            <a:spLocks noGrp="1"/>
          </p:cNvSpPr>
          <p:nvPr>
            <p:ph type="title"/>
          </p:nvPr>
        </p:nvSpPr>
        <p:spPr/>
        <p:txBody>
          <a:bodyPr/>
          <a:lstStyle/>
          <a:p>
            <a:r>
              <a:rPr lang="en-US" dirty="0"/>
              <a:t>The Process</a:t>
            </a:r>
          </a:p>
        </p:txBody>
      </p:sp>
      <p:sp>
        <p:nvSpPr>
          <p:cNvPr id="3" name="Content Placeholder 2">
            <a:extLst>
              <a:ext uri="{FF2B5EF4-FFF2-40B4-BE49-F238E27FC236}">
                <a16:creationId xmlns:a16="http://schemas.microsoft.com/office/drawing/2014/main" id="{4D55FA5D-A6C4-F730-DBFD-7870E2295E0A}"/>
              </a:ext>
            </a:extLst>
          </p:cNvPr>
          <p:cNvSpPr>
            <a:spLocks noGrp="1"/>
          </p:cNvSpPr>
          <p:nvPr>
            <p:ph idx="1"/>
          </p:nvPr>
        </p:nvSpPr>
        <p:spPr/>
        <p:txBody>
          <a:bodyPr>
            <a:normAutofit/>
          </a:bodyPr>
          <a:lstStyle/>
          <a:p>
            <a:r>
              <a:rPr lang="en-US" dirty="0"/>
              <a:t>We split the 8 seasons into an 80/20 train/test split (grouped by game) </a:t>
            </a:r>
          </a:p>
          <a:p>
            <a:r>
              <a:rPr lang="en-US" dirty="0"/>
              <a:t>For the Linear model we used Grid search CV and for the Tree model we used Randomized search CV on the training set</a:t>
            </a:r>
          </a:p>
          <a:p>
            <a:r>
              <a:rPr lang="en-US" dirty="0"/>
              <a:t>Once we found the absolute best parameters from those searches, we combined the Train and Test sets back together and retrained the models on the entire 8-season dataset so they could learn from every play. </a:t>
            </a:r>
          </a:p>
          <a:p>
            <a:r>
              <a:rPr lang="en-US" dirty="0"/>
              <a:t>These are the models we saved for the app.</a:t>
            </a:r>
          </a:p>
          <a:p>
            <a:endParaRPr lang="en-US" dirty="0"/>
          </a:p>
        </p:txBody>
      </p:sp>
    </p:spTree>
    <p:extLst>
      <p:ext uri="{BB962C8B-B14F-4D97-AF65-F5344CB8AC3E}">
        <p14:creationId xmlns:p14="http://schemas.microsoft.com/office/powerpoint/2010/main" val="38051547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D4F0D9-CD8A-ED73-712F-03755F68539E}"/>
              </a:ext>
            </a:extLst>
          </p:cNvPr>
          <p:cNvSpPr>
            <a:spLocks noGrp="1"/>
          </p:cNvSpPr>
          <p:nvPr>
            <p:ph type="title"/>
          </p:nvPr>
        </p:nvSpPr>
        <p:spPr>
          <a:xfrm>
            <a:off x="630936" y="639520"/>
            <a:ext cx="3429000" cy="978968"/>
          </a:xfrm>
        </p:spPr>
        <p:txBody>
          <a:bodyPr anchor="b">
            <a:normAutofit/>
          </a:bodyPr>
          <a:lstStyle/>
          <a:p>
            <a:r>
              <a:rPr lang="en-US" sz="2400" dirty="0"/>
              <a:t>Linear Model (COEFFICIENTS)</a:t>
            </a:r>
            <a:endParaRPr lang="en-US" sz="5000" dirty="0"/>
          </a:p>
        </p:txBody>
      </p:sp>
      <p:sp>
        <p:nvSpPr>
          <p:cNvPr id="35"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Content Placeholder 8">
            <a:extLst>
              <a:ext uri="{FF2B5EF4-FFF2-40B4-BE49-F238E27FC236}">
                <a16:creationId xmlns:a16="http://schemas.microsoft.com/office/drawing/2014/main" id="{A427A0B7-A453-6198-CC90-3380B86433EE}"/>
              </a:ext>
            </a:extLst>
          </p:cNvPr>
          <p:cNvSpPr>
            <a:spLocks noGrp="1"/>
          </p:cNvSpPr>
          <p:nvPr>
            <p:ph idx="1"/>
          </p:nvPr>
        </p:nvSpPr>
        <p:spPr>
          <a:xfrm>
            <a:off x="630936" y="2807208"/>
            <a:ext cx="3429000" cy="3410712"/>
          </a:xfrm>
        </p:spPr>
        <p:txBody>
          <a:bodyPr anchor="t">
            <a:normAutofit fontScale="55000" lnSpcReduction="20000"/>
          </a:bodyPr>
          <a:lstStyle/>
          <a:p>
            <a:r>
              <a:rPr lang="en-US" sz="2400" dirty="0"/>
              <a:t>Linear model assigns weights to each feature, indicating how strongly they influence the probability of winning</a:t>
            </a:r>
          </a:p>
          <a:p>
            <a:r>
              <a:rPr lang="en-US" sz="2400" b="1" dirty="0" err="1"/>
              <a:t>inter_score_x_time</a:t>
            </a:r>
            <a:r>
              <a:rPr lang="en-US" sz="2400" b="1" dirty="0"/>
              <a:t> </a:t>
            </a:r>
            <a:r>
              <a:rPr lang="en-US" sz="2400" dirty="0"/>
              <a:t>: This interaction between score and time remaining is the most important feature, capturing how the impact of a lead changes over the course of a game (Being up 7 early does not equal being up 7 late)</a:t>
            </a:r>
          </a:p>
          <a:p>
            <a:r>
              <a:rPr lang="en-US" sz="2400" dirty="0"/>
              <a:t>Score differential is a primary driver of win probability, as teams leading the game are more likely to win. Obvious but critical</a:t>
            </a:r>
          </a:p>
          <a:p>
            <a:r>
              <a:rPr lang="en-US" sz="2400" b="1" dirty="0" err="1"/>
              <a:t>inter_spread_x_time</a:t>
            </a:r>
            <a:r>
              <a:rPr lang="en-US" sz="2400" b="1" dirty="0"/>
              <a:t> </a:t>
            </a:r>
            <a:r>
              <a:rPr lang="en-US" sz="2400" dirty="0"/>
              <a:t>: This feature combines pre-game expectations with time, allowing the model to adjust predictions based on both team strength and game progression</a:t>
            </a:r>
          </a:p>
          <a:p>
            <a:r>
              <a:rPr lang="en-US" sz="2400" dirty="0"/>
              <a:t>Model relies heavily on structured interactions between score, time, and team strength.</a:t>
            </a:r>
            <a:endParaRPr lang="en-US" sz="2200" dirty="0"/>
          </a:p>
        </p:txBody>
      </p:sp>
      <p:pic>
        <p:nvPicPr>
          <p:cNvPr id="7" name="Picture 6">
            <a:extLst>
              <a:ext uri="{FF2B5EF4-FFF2-40B4-BE49-F238E27FC236}">
                <a16:creationId xmlns:a16="http://schemas.microsoft.com/office/drawing/2014/main" id="{FE7D1EF5-0E67-6FD6-9DBE-5F2352187464}"/>
              </a:ext>
            </a:extLst>
          </p:cNvPr>
          <p:cNvPicPr>
            <a:picLocks noChangeAspect="1"/>
          </p:cNvPicPr>
          <p:nvPr/>
        </p:nvPicPr>
        <p:blipFill>
          <a:blip r:embed="rId2"/>
          <a:stretch>
            <a:fillRect/>
          </a:stretch>
        </p:blipFill>
        <p:spPr>
          <a:xfrm>
            <a:off x="4034740" y="1064476"/>
            <a:ext cx="7523276" cy="5153444"/>
          </a:xfrm>
          <a:prstGeom prst="rect">
            <a:avLst/>
          </a:prstGeom>
        </p:spPr>
      </p:pic>
    </p:spTree>
    <p:extLst>
      <p:ext uri="{BB962C8B-B14F-4D97-AF65-F5344CB8AC3E}">
        <p14:creationId xmlns:p14="http://schemas.microsoft.com/office/powerpoint/2010/main" val="23291660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7950AC-1D4B-48E2-1F70-20493976D673}"/>
            </a:ext>
          </a:extLst>
        </p:cNvPr>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2" name="Freeform: Shape 41">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7" name="Freeform: Shape 46">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1228533-F1E3-3DD2-C230-13C1C936B09D}"/>
              </a:ext>
            </a:extLst>
          </p:cNvPr>
          <p:cNvSpPr>
            <a:spLocks noGrp="1"/>
          </p:cNvSpPr>
          <p:nvPr>
            <p:ph type="title"/>
          </p:nvPr>
        </p:nvSpPr>
        <p:spPr>
          <a:xfrm>
            <a:off x="371094" y="1161288"/>
            <a:ext cx="3438144" cy="1239012"/>
          </a:xfrm>
        </p:spPr>
        <p:txBody>
          <a:bodyPr anchor="ctr">
            <a:normAutofit/>
          </a:bodyPr>
          <a:lstStyle/>
          <a:p>
            <a:r>
              <a:rPr lang="en-US" sz="2800"/>
              <a:t>XGBOOST (FEATURE IMPORTANCE)</a:t>
            </a:r>
          </a:p>
        </p:txBody>
      </p:sp>
      <p:sp>
        <p:nvSpPr>
          <p:cNvPr id="46" name="Rectangle 45">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8" name="Rectangle 47">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Content Placeholder 8">
            <a:extLst>
              <a:ext uri="{FF2B5EF4-FFF2-40B4-BE49-F238E27FC236}">
                <a16:creationId xmlns:a16="http://schemas.microsoft.com/office/drawing/2014/main" id="{0D5B4836-B5E1-57CF-E509-40A94B3407BB}"/>
              </a:ext>
            </a:extLst>
          </p:cNvPr>
          <p:cNvSpPr>
            <a:spLocks noGrp="1"/>
          </p:cNvSpPr>
          <p:nvPr>
            <p:ph idx="1"/>
          </p:nvPr>
        </p:nvSpPr>
        <p:spPr>
          <a:xfrm>
            <a:off x="371094" y="2718054"/>
            <a:ext cx="3438906" cy="3207258"/>
          </a:xfrm>
        </p:spPr>
        <p:txBody>
          <a:bodyPr anchor="t">
            <a:normAutofit/>
          </a:bodyPr>
          <a:lstStyle/>
          <a:p>
            <a:r>
              <a:rPr lang="en-US" sz="1200" dirty="0" err="1"/>
              <a:t>XGBoost</a:t>
            </a:r>
            <a:r>
              <a:rPr lang="en-US" sz="1200" dirty="0"/>
              <a:t> measures feature importance based on how much each feature improves model performance when used in decision trees</a:t>
            </a:r>
          </a:p>
          <a:p>
            <a:r>
              <a:rPr lang="en-US" sz="1200" b="1" dirty="0" err="1"/>
              <a:t>poly_score_diff_sq</a:t>
            </a:r>
            <a:r>
              <a:rPr lang="en-US" sz="1200" dirty="0"/>
              <a:t> : The squared score differential is the most important feature, highlighting that large leads dramatically increase win probability.</a:t>
            </a:r>
          </a:p>
          <a:p>
            <a:r>
              <a:rPr lang="en-US" sz="1200" b="1" dirty="0" err="1"/>
              <a:t>inter_spread_x_time</a:t>
            </a:r>
            <a:r>
              <a:rPr lang="en-US" sz="1200" b="1" dirty="0"/>
              <a:t> </a:t>
            </a:r>
            <a:r>
              <a:rPr lang="en-US" sz="1200" dirty="0"/>
              <a:t>: This feature allows the model to dynamically adjust expectations based on both team strength and time remaining. </a:t>
            </a:r>
          </a:p>
          <a:p>
            <a:r>
              <a:rPr lang="en-US" sz="1200" b="1" dirty="0" err="1"/>
              <a:t>inter_score_x_time</a:t>
            </a:r>
            <a:r>
              <a:rPr lang="en-US" sz="1200" b="1" dirty="0"/>
              <a:t> </a:t>
            </a:r>
            <a:r>
              <a:rPr lang="en-US" sz="1200" dirty="0"/>
              <a:t>: This interaction captures how the importance of scoring changes as the game progresses.</a:t>
            </a:r>
          </a:p>
        </p:txBody>
      </p:sp>
      <p:pic>
        <p:nvPicPr>
          <p:cNvPr id="4" name="Picture 3">
            <a:extLst>
              <a:ext uri="{FF2B5EF4-FFF2-40B4-BE49-F238E27FC236}">
                <a16:creationId xmlns:a16="http://schemas.microsoft.com/office/drawing/2014/main" id="{E216F518-8677-F2A1-FDAF-69E140CA3706}"/>
              </a:ext>
            </a:extLst>
          </p:cNvPr>
          <p:cNvPicPr>
            <a:picLocks noChangeAspect="1"/>
          </p:cNvPicPr>
          <p:nvPr/>
        </p:nvPicPr>
        <p:blipFill>
          <a:blip r:embed="rId2"/>
          <a:stretch>
            <a:fillRect/>
          </a:stretch>
        </p:blipFill>
        <p:spPr>
          <a:xfrm>
            <a:off x="3731685" y="941832"/>
            <a:ext cx="8091507" cy="4956048"/>
          </a:xfrm>
          <a:prstGeom prst="rect">
            <a:avLst/>
          </a:prstGeom>
        </p:spPr>
      </p:pic>
    </p:spTree>
    <p:extLst>
      <p:ext uri="{BB962C8B-B14F-4D97-AF65-F5344CB8AC3E}">
        <p14:creationId xmlns:p14="http://schemas.microsoft.com/office/powerpoint/2010/main" val="16608108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BE4377B-B373-0866-CE06-AF75BEFD9361}"/>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6ECA6DCB-B7E1-40A9-9524-540C6DA40B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5BB1F3-AB67-6549-7048-01FB7D00CF3B}"/>
              </a:ext>
            </a:extLst>
          </p:cNvPr>
          <p:cNvSpPr>
            <a:spLocks noGrp="1"/>
          </p:cNvSpPr>
          <p:nvPr>
            <p:ph type="title"/>
          </p:nvPr>
        </p:nvSpPr>
        <p:spPr>
          <a:xfrm>
            <a:off x="589560" y="856180"/>
            <a:ext cx="5279408" cy="1128068"/>
          </a:xfrm>
        </p:spPr>
        <p:txBody>
          <a:bodyPr anchor="ctr">
            <a:normAutofit/>
          </a:bodyPr>
          <a:lstStyle/>
          <a:p>
            <a:r>
              <a:rPr lang="en-US" sz="4000" dirty="0"/>
              <a:t>The Takeaway</a:t>
            </a:r>
          </a:p>
        </p:txBody>
      </p:sp>
      <p:grpSp>
        <p:nvGrpSpPr>
          <p:cNvPr id="27" name="Group 26">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36" name="Rectangle 3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Rectangle 38">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F81AF245-25DE-D110-42E5-81A94F704596}"/>
              </a:ext>
            </a:extLst>
          </p:cNvPr>
          <p:cNvSpPr>
            <a:spLocks noGrp="1"/>
          </p:cNvSpPr>
          <p:nvPr>
            <p:ph idx="1"/>
          </p:nvPr>
        </p:nvSpPr>
        <p:spPr>
          <a:xfrm>
            <a:off x="590719" y="2330505"/>
            <a:ext cx="5278066" cy="3979585"/>
          </a:xfrm>
        </p:spPr>
        <p:txBody>
          <a:bodyPr anchor="ctr">
            <a:normAutofit/>
          </a:bodyPr>
          <a:lstStyle/>
          <a:p>
            <a:r>
              <a:rPr lang="en-US" sz="1000" dirty="0"/>
              <a:t>Across both models, the most important features consistently relate to score, time remaining, and team strength, confirming that win probability is primarily driven by game state.</a:t>
            </a:r>
          </a:p>
          <a:p>
            <a:r>
              <a:rPr lang="en-US" sz="1000" dirty="0"/>
              <a:t>When a simple Linear model performs nearly as well as a complex Gradient Boosted Trees model, there could be a few explanations as to why:</a:t>
            </a:r>
          </a:p>
          <a:p>
            <a:pPr marL="0" indent="0">
              <a:buNone/>
            </a:pPr>
            <a:r>
              <a:rPr lang="en-US" sz="1000" b="1" dirty="0"/>
              <a:t>The Power of Feature Engineering</a:t>
            </a:r>
          </a:p>
          <a:p>
            <a:r>
              <a:rPr lang="en-US" sz="1000" dirty="0"/>
              <a:t>You can either let the model find relationships (</a:t>
            </a:r>
            <a:r>
              <a:rPr lang="en-US" sz="1000" dirty="0" err="1"/>
              <a:t>XGBoost</a:t>
            </a:r>
            <a:r>
              <a:rPr lang="en-US" sz="1000" dirty="0"/>
              <a:t>) or explicitly tell the model what those relationships are (Feature Engineering). Because we manually created </a:t>
            </a:r>
            <a:r>
              <a:rPr lang="en-US" sz="1000" b="1" dirty="0"/>
              <a:t>Interactions</a:t>
            </a:r>
            <a:r>
              <a:rPr lang="en-US" sz="1000" dirty="0"/>
              <a:t> (Score × Time) and </a:t>
            </a:r>
            <a:r>
              <a:rPr lang="en-US" sz="1000" b="1" dirty="0"/>
              <a:t>Polynomials</a:t>
            </a:r>
            <a:r>
              <a:rPr lang="en-US" sz="1000" dirty="0"/>
              <a:t> (Yards²), we essentially linearized the non-linear physics of football. The Liner model doesn't have to discover those complex relationships anymore</a:t>
            </a:r>
          </a:p>
          <a:p>
            <a:pPr marL="0" indent="0">
              <a:buNone/>
            </a:pPr>
            <a:r>
              <a:rPr lang="en-US" sz="1000" b="1" dirty="0"/>
              <a:t>Signal vs. Noise in the Sport</a:t>
            </a:r>
          </a:p>
          <a:p>
            <a:r>
              <a:rPr lang="en-US" sz="1000" dirty="0"/>
              <a:t>The core features of football  (like Down, Distance, Time, and Score) may be  extremely strong and consistent. While </a:t>
            </a:r>
            <a:r>
              <a:rPr lang="en-US" sz="1000" dirty="0" err="1"/>
              <a:t>XGBoost</a:t>
            </a:r>
            <a:r>
              <a:rPr lang="en-US" sz="1000" dirty="0"/>
              <a:t> is better at handling edge cases (like rare 4th-down scenarios or massive upsets), the majority games follow a logical, almost linear progression of probability that a linear model can capture.</a:t>
            </a:r>
          </a:p>
          <a:p>
            <a:pPr marL="0" indent="0">
              <a:buNone/>
            </a:pPr>
            <a:r>
              <a:rPr lang="en-US" sz="1000" b="1" dirty="0"/>
              <a:t>Diminishing Returns on Complexity</a:t>
            </a:r>
          </a:p>
          <a:p>
            <a:r>
              <a:rPr lang="en-US" sz="1000" dirty="0"/>
              <a:t>In many cases once you reach an AUC of ~0.92, you have captured almost all the predictable information in the dataset. Moving from 92% to 93% can require 10x the computational complexity (like moving to an LSTM) for only a 1% gain in accuracy.</a:t>
            </a:r>
          </a:p>
        </p:txBody>
      </p:sp>
      <p:sp>
        <p:nvSpPr>
          <p:cNvPr id="40" name="Rectangle 39">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AFC6D82B-B549-2F51-37C1-25367E7EA408}"/>
              </a:ext>
            </a:extLst>
          </p:cNvPr>
          <p:cNvPicPr>
            <a:picLocks noChangeAspect="1"/>
          </p:cNvPicPr>
          <p:nvPr/>
        </p:nvPicPr>
        <p:blipFill>
          <a:blip r:embed="rId2"/>
          <a:srcRect t="2294" r="3" b="1761"/>
          <a:stretch>
            <a:fillRect/>
          </a:stretch>
        </p:blipFill>
        <p:spPr>
          <a:xfrm>
            <a:off x="7083423" y="581892"/>
            <a:ext cx="4397433" cy="2518756"/>
          </a:xfrm>
          <a:prstGeom prst="rect">
            <a:avLst/>
          </a:prstGeom>
        </p:spPr>
      </p:pic>
      <p:sp>
        <p:nvSpPr>
          <p:cNvPr id="37" name="Rectangle 36">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789499A2-6164-134F-7A63-979557F79E17}"/>
              </a:ext>
            </a:extLst>
          </p:cNvPr>
          <p:cNvPicPr>
            <a:picLocks noChangeAspect="1"/>
          </p:cNvPicPr>
          <p:nvPr/>
        </p:nvPicPr>
        <p:blipFill>
          <a:blip r:embed="rId3"/>
          <a:srcRect t="3694" r="1" b="1"/>
          <a:stretch>
            <a:fillRect/>
          </a:stretch>
        </p:blipFill>
        <p:spPr>
          <a:xfrm>
            <a:off x="7083423" y="3707894"/>
            <a:ext cx="4395569" cy="2518756"/>
          </a:xfrm>
          <a:prstGeom prst="rect">
            <a:avLst/>
          </a:prstGeom>
        </p:spPr>
      </p:pic>
    </p:spTree>
    <p:extLst>
      <p:ext uri="{BB962C8B-B14F-4D97-AF65-F5344CB8AC3E}">
        <p14:creationId xmlns:p14="http://schemas.microsoft.com/office/powerpoint/2010/main" val="23540058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8D47D-DBB3-691C-BB60-B21450A57AB3}"/>
              </a:ext>
            </a:extLst>
          </p:cNvPr>
          <p:cNvSpPr>
            <a:spLocks noGrp="1"/>
          </p:cNvSpPr>
          <p:nvPr>
            <p:ph type="title"/>
          </p:nvPr>
        </p:nvSpPr>
        <p:spPr/>
        <p:txBody>
          <a:bodyPr/>
          <a:lstStyle/>
          <a:p>
            <a:r>
              <a:rPr lang="en-US" dirty="0"/>
              <a:t>THE END.</a:t>
            </a:r>
          </a:p>
        </p:txBody>
      </p:sp>
    </p:spTree>
    <p:extLst>
      <p:ext uri="{BB962C8B-B14F-4D97-AF65-F5344CB8AC3E}">
        <p14:creationId xmlns:p14="http://schemas.microsoft.com/office/powerpoint/2010/main" val="7729014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743</TotalTime>
  <Words>3043</Words>
  <Application>Microsoft Office PowerPoint</Application>
  <PresentationFormat>Widescreen</PresentationFormat>
  <Paragraphs>159</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Aptos Display</vt:lpstr>
      <vt:lpstr>Arial</vt:lpstr>
      <vt:lpstr>Calibri</vt:lpstr>
      <vt:lpstr>Office Theme</vt:lpstr>
      <vt:lpstr>Predicting Win Probability</vt:lpstr>
      <vt:lpstr>The Goal</vt:lpstr>
      <vt:lpstr>The Metrics</vt:lpstr>
      <vt:lpstr>The Metrics (cont.)</vt:lpstr>
      <vt:lpstr>The Metrics (cont.)</vt:lpstr>
      <vt:lpstr>The Data </vt:lpstr>
      <vt:lpstr>The Data (challenges)</vt:lpstr>
      <vt:lpstr>The Data (challenges)</vt:lpstr>
      <vt:lpstr>The Data (challenges)</vt:lpstr>
      <vt:lpstr>PySpark Utilization</vt:lpstr>
      <vt:lpstr>FEATURE SET (24 FEATURES)</vt:lpstr>
      <vt:lpstr>FEATURE SET (24 FEATURES)</vt:lpstr>
      <vt:lpstr>FEATURE SET (24 FEATURES)</vt:lpstr>
      <vt:lpstr>FEATURE SET (24 FEATURES)</vt:lpstr>
      <vt:lpstr>The Features</vt:lpstr>
      <vt:lpstr>The Features (cont.)</vt:lpstr>
      <vt:lpstr>Data Leakage Prevention</vt:lpstr>
      <vt:lpstr>The Linear Model</vt:lpstr>
      <vt:lpstr>The Tree Model</vt:lpstr>
      <vt:lpstr>The Process</vt:lpstr>
      <vt:lpstr>Linear Model (COEFFICIENTS)</vt:lpstr>
      <vt:lpstr>XGBOOST (FEATURE IMPORTANCE)</vt:lpstr>
      <vt:lpstr>The Takeaway</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alvin hampton</dc:creator>
  <cp:lastModifiedBy>alvin hampton</cp:lastModifiedBy>
  <cp:revision>23</cp:revision>
  <dcterms:created xsi:type="dcterms:W3CDTF">2026-04-27T22:36:15Z</dcterms:created>
  <dcterms:modified xsi:type="dcterms:W3CDTF">2026-05-03T15:27:33Z</dcterms:modified>
</cp:coreProperties>
</file>